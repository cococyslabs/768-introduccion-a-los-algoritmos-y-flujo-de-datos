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1" r:id="rId24"/>
    <p:sldId id="272" r:id="rId25"/>
    <p:sldId id="273" r:id="rId26"/>
    <p:sldId id="274" r:id="rId27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5uyU4M8NqpuQa0XNrGDtHby9g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OpenSans-bold.fntdata"/><Relationship Id="rId22" Type="http://schemas.openxmlformats.org/officeDocument/2006/relationships/font" Target="fonts/OpenSans-boldItalic.fntdata"/><Relationship Id="rId23" Type="http://customschemas.google.com/relationships/presentationmetadata" Target="metadata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Escuela de Ingeniería en Ciencias y Sistemas</a:t>
            </a: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Laboratorio 768 · Segundo Semestre 2026</a:t>
            </a: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330000"/>
            <a:ext cx="9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400">
                <a:solidFill>
                  <a:srgbClr val="000000"/>
                </a:solidFill>
                <a:latin typeface="Open Sans"/>
              </a:rPr>
              <a:t>Tutor Académico: Jorge Andrés Mejía Súchite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3400">
                <a:solidFill>
                  <a:srgbClr val="000000"/>
                </a:solidFill>
                <a:latin typeface="Open Sans"/>
              </a:rPr>
              <a:t>Introducción a los Algoritmos y Flujo de Datos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00000" y="1830000"/>
            <a:ext cx="7388000" cy="125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11300000" y="2150000"/>
          <a:ext cx="6500000" cy="6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5000000"/>
              </a:tblGrid>
              <a:tr h="644000">
                <a:tc>
                  <a:txBody>
                    <a:bodyPr wrap="square"/>
                    <a:lstStyle/>
                    <a:p>
                      <a:r>
                        <a:rPr b="1" sz="2900">
                          <a:solidFill>
                            <a:srgbClr val="1F1F1F"/>
                          </a:solidFill>
                          <a:latin typeface="Open Sans"/>
                        </a:rPr>
                        <a:t>Fecha: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900">
                          <a:solidFill>
                            <a:srgbClr val="1F1F1F"/>
                          </a:solidFill>
                          <a:latin typeface="Open Sans"/>
                        </a:rPr>
                        <a:t>Semana 2 – 25/07/2026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144000" y="2900000"/>
            <a:ext cx="16000000" cy="1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6600">
                <a:solidFill>
                  <a:srgbClr val="000000"/>
                </a:solidFill>
                <a:latin typeface="Open Sans"/>
              </a:rPr>
              <a:t>UNIDAD 1</a:t>
            </a:r>
          </a:p>
        </p:txBody>
      </p:sp>
      <p:sp>
        <p:nvSpPr>
          <p:cNvPr id="96" name="Google Shape;96;p2"/>
          <p:cNvSpPr txBox="1"/>
          <p:nvPr/>
        </p:nvSpPr>
        <p:spPr>
          <a:xfrm>
            <a:off x="1144000" y="4650000"/>
            <a:ext cx="1600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La computadora</a:t>
            </a: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sz="3400">
                <a:solidFill>
                  <a:srgbClr val="000000"/>
                </a:solidFill>
                <a:latin typeface="Open Sans"/>
              </a:rPr>
              <a:t>Semana 2: Fundamentos de la computadora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687137" y="2492771"/>
            <a:ext cx="9432094" cy="6765529"/>
          </a:xfrm>
          <a:custGeom>
            <a:rect b="b" l="l" r="r" t="t"/>
            <a:pathLst>
              <a:path extrusionOk="0" h="6765529" w="9432094">
                <a:moveTo>
                  <a:pt x="0" y="0"/>
                </a:moveTo>
                <a:lnTo>
                  <a:pt x="9432093" y="0"/>
                </a:lnTo>
                <a:lnTo>
                  <a:pt x="9432093" y="6765529"/>
                </a:lnTo>
                <a:lnTo>
                  <a:pt x="0" y="6765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3"/>
          <p:cNvSpPr/>
          <p:nvPr/>
        </p:nvSpPr>
        <p:spPr>
          <a:xfrm>
            <a:off x="3971429" y="612837"/>
            <a:ext cx="11301259" cy="2288505"/>
          </a:xfrm>
          <a:custGeom>
            <a:rect b="b" l="l" r="r" t="t"/>
            <a:pathLst>
              <a:path extrusionOk="0" h="2288505" w="11301259">
                <a:moveTo>
                  <a:pt x="0" y="0"/>
                </a:moveTo>
                <a:lnTo>
                  <a:pt x="11301259" y="0"/>
                </a:lnTo>
                <a:lnTo>
                  <a:pt x="11301259" y="2288505"/>
                </a:lnTo>
                <a:lnTo>
                  <a:pt x="0" y="22885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/>
          <p:nvPr/>
        </p:nvSpPr>
        <p:spPr>
          <a:xfrm>
            <a:off x="314891" y="2901342"/>
            <a:ext cx="4961633" cy="4961633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3"/>
          <p:cNvSpPr/>
          <p:nvPr/>
        </p:nvSpPr>
        <p:spPr>
          <a:xfrm>
            <a:off x="5276524" y="317448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3"/>
          <p:cNvSpPr txBox="1"/>
          <p:nvPr/>
        </p:nvSpPr>
        <p:spPr>
          <a:xfrm>
            <a:off x="5980000" y="4328160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Tarea 1 (infografía y RAPTOR/PSeInt): asignación 25/07 – entrega 02/08.</a:t>
            </a:r>
          </a:p>
        </p:txBody>
      </p:sp>
      <p:sp>
        <p:nvSpPr>
          <p:cNvPr id="107" name="Google Shape;107;p3"/>
          <p:cNvSpPr txBox="1"/>
          <p:nvPr/>
        </p:nvSpPr>
        <p:spPr>
          <a:xfrm>
            <a:off x="5980000" y="3342711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Bienvenidos a la primera sesión de contenido del laboratorio.</a:t>
            </a:r>
          </a:p>
        </p:txBody>
      </p:sp>
      <p:sp>
        <p:nvSpPr>
          <p:cNvPr id="108" name="Google Shape;108;p3"/>
          <p:cNvSpPr/>
          <p:nvPr/>
        </p:nvSpPr>
        <p:spPr>
          <a:xfrm>
            <a:off x="5276524" y="415805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5276524" y="525909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3"/>
          <p:cNvSpPr/>
          <p:nvPr/>
        </p:nvSpPr>
        <p:spPr>
          <a:xfrm>
            <a:off x="5276524" y="636014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5276524" y="746118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5" y="0"/>
                </a:lnTo>
                <a:lnTo>
                  <a:pt x="678185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5980000" y="544881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Práctica 1 «La Odisea del Dato» se asigna el 01/08.</a:t>
            </a:r>
          </a:p>
        </p:txBody>
      </p:sp>
      <p:sp>
        <p:nvSpPr>
          <p:cNvPr id="113" name="Google Shape;113;p3"/>
          <p:cNvSpPr txBox="1"/>
          <p:nvPr/>
        </p:nvSpPr>
        <p:spPr>
          <a:xfrm>
            <a:off x="5980000" y="643560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Participe en el foro del curso en UEDI; revisaremos sus preguntas hoy.</a:t>
            </a:r>
          </a:p>
        </p:txBody>
      </p:sp>
      <p:sp>
        <p:nvSpPr>
          <p:cNvPr id="114" name="Google Shape;114;p3"/>
          <p:cNvSpPr txBox="1"/>
          <p:nvPr/>
        </p:nvSpPr>
        <p:spPr>
          <a:xfrm>
            <a:off x="5980000" y="7555746"/>
            <a:ext cx="80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Al finalizar nos tomamos la foto grupal.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4016947" y="3558803"/>
            <a:ext cx="9896507" cy="5913163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>
            <a:off x="3493371" y="-625307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/>
          <p:nvPr/>
        </p:nvSpPr>
        <p:spPr>
          <a:xfrm>
            <a:off x="4875920" y="4090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5700000" y="4328160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¿Qué es una computadora?</a:t>
            </a:r>
          </a:p>
        </p:txBody>
      </p:sp>
      <p:sp>
        <p:nvSpPr>
          <p:cNvPr id="123" name="Google Shape;123;p4"/>
          <p:cNvSpPr/>
          <p:nvPr/>
        </p:nvSpPr>
        <p:spPr>
          <a:xfrm>
            <a:off x="4875920" y="514350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5700000" y="537955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Evolución de la computadora</a:t>
            </a:r>
          </a:p>
        </p:txBody>
      </p:sp>
      <p:sp>
        <p:nvSpPr>
          <p:cNvPr id="125" name="Google Shape;125;p4"/>
          <p:cNvSpPr/>
          <p:nvPr/>
        </p:nvSpPr>
        <p:spPr>
          <a:xfrm>
            <a:off x="4875920" y="6194896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4875920" y="72483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4875920" y="8301734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 txBox="1"/>
          <p:nvPr/>
        </p:nvSpPr>
        <p:spPr>
          <a:xfrm>
            <a:off x="5700000" y="638539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Hardware: componentes físicos</a:t>
            </a:r>
          </a:p>
        </p:txBody>
      </p:sp>
      <p:sp>
        <p:nvSpPr>
          <p:cNvPr id="129" name="Google Shape;129;p4"/>
          <p:cNvSpPr txBox="1"/>
          <p:nvPr/>
        </p:nvSpPr>
        <p:spPr>
          <a:xfrm>
            <a:off x="5700000" y="7391236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Software: componentes lógicos</a:t>
            </a:r>
          </a:p>
        </p:txBody>
      </p:sp>
      <p:sp>
        <p:nvSpPr>
          <p:cNvPr id="130" name="Google Shape;130;p4"/>
          <p:cNvSpPr txBox="1"/>
          <p:nvPr/>
        </p:nvSpPr>
        <p:spPr>
          <a:xfrm>
            <a:off x="5700000" y="8444701"/>
            <a:ext cx="8100000" cy="815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2600">
                <a:solidFill>
                  <a:srgbClr val="000000"/>
                </a:solidFill>
                <a:latin typeface="Open Sans"/>
              </a:rPr>
              <a:t>Procesamiento de información y actividad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0" y="0"/>
            <a:ext cx="18288000" cy="10447020"/>
          </a:xfrm>
          <a:custGeom>
            <a:rect b="b" l="l" r="r" t="t"/>
            <a:pathLst>
              <a:path extrusionOk="0" h="10447020" w="18288000">
                <a:moveTo>
                  <a:pt x="0" y="0"/>
                </a:moveTo>
                <a:lnTo>
                  <a:pt x="18288000" y="0"/>
                </a:lnTo>
                <a:lnTo>
                  <a:pt x="18288000" y="10447020"/>
                </a:lnTo>
                <a:lnTo>
                  <a:pt x="0" y="10447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888408" y="2300000"/>
            <a:ext cx="12511183" cy="5600000"/>
          </a:xfrm>
          <a:custGeom>
            <a:rect b="b" l="l" r="r" t="t"/>
            <a:pathLst>
              <a:path extrusionOk="0" h="3424936" w="12511183">
                <a:moveTo>
                  <a:pt x="0" y="0"/>
                </a:moveTo>
                <a:lnTo>
                  <a:pt x="12511184" y="0"/>
                </a:lnTo>
                <a:lnTo>
                  <a:pt x="12511184" y="3424937"/>
                </a:lnTo>
                <a:lnTo>
                  <a:pt x="0" y="3424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 txBox="1"/>
          <p:nvPr/>
        </p:nvSpPr>
        <p:spPr>
          <a:xfrm>
            <a:off x="5100000" y="2700000"/>
            <a:ext cx="10000000" cy="4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Específica:</a:t>
            </a:r>
            <a:r>
              <a:rPr b="0" sz="2200">
                <a:solidFill>
                  <a:srgbClr val="000000"/>
                </a:solidFill>
                <a:latin typeface="Open Sans"/>
              </a:rPr>
              <a:t> Identifica los componentes físicos y lógicos de un sistema computacional utilizando el modelo de Von Neumann y la clasificación del hardware y software para explicar la función de cada elemento en el procesamiento y flujo de datos</a:t>
            </a: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sz="2200">
                <a:solidFill>
                  <a:srgbClr val="000000"/>
                </a:solidFill>
                <a:latin typeface="Open Sans"/>
              </a:rPr>
              <a:t>Competencia General:</a:t>
            </a:r>
            <a:r>
              <a:rPr b="0" sz="2200">
                <a:solidFill>
                  <a:srgbClr val="000000"/>
                </a:solidFill>
                <a:latin typeface="Open Sans"/>
              </a:rPr>
              <a:t> Analiza problemas computacionales y formula soluciones algorítmicas utilizando pensamiento computacional, pseudocódigo y diagramas de flujo en las tecnologías establecidas para representar el procesamiento y flujo de datos bajo criterios de corrección lógica, claridad y orden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5616573" y="654273"/>
            <a:ext cx="7054854" cy="1553923"/>
          </a:xfrm>
          <a:custGeom>
            <a:rect b="b" l="l" r="r" t="t"/>
            <a:pathLst>
              <a:path extrusionOk="0" h="1553923" w="7054854">
                <a:moveTo>
                  <a:pt x="0" y="0"/>
                </a:moveTo>
                <a:lnTo>
                  <a:pt x="7054854" y="0"/>
                </a:lnTo>
                <a:lnTo>
                  <a:pt x="7054854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0664" r="-29526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2414359" y="2700000"/>
            <a:ext cx="13459282" cy="6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Compromiso y responsabilidad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0" sz="3200">
                <a:solidFill>
                  <a:srgbClr val="000000"/>
                </a:solidFill>
                <a:latin typeface="Open Sans"/>
              </a:rPr>
              <a:t>Mantener una actitud positiva, responsable y comprometida durante el curso, reforzando el propósito de Algoritmos como base de la formación como programador.</a:t>
            </a:r>
          </a:p>
          <a:p>
            <a:pPr indent="-447040" lvl="1" marL="447040" marR="0" rtl="0" algn="l">
              <a:lnSpc>
                <a:spcPct val="140000"/>
              </a:lnSpc>
              <a:spcBef>
                <a:spcPts val="0"/>
              </a:spcBef>
              <a:spcAft>
                <a:spcPts val="1800"/>
              </a:spcAft>
              <a:buFont typeface="Arial"/>
              <a:buChar char="•"/>
            </a:pPr>
            <a:r>
              <a:rPr b="1" sz="3200">
                <a:solidFill>
                  <a:srgbClr val="000000"/>
                </a:solidFill>
                <a:latin typeface="Open Sans"/>
              </a:rPr>
              <a:t>¿Cómo lo aplicamos hoy?</a:t>
            </a:r>
            <a:r>
              <a:rPr b="0" sz="3200">
                <a:solidFill>
                  <a:srgbClr val="000000"/>
                </a:solidFill>
                <a:latin typeface="Open Sans"/>
              </a:rPr>
              <a:t> El compromiso favorece la atención y la participación activa durante la explicación de los fundamentos de la computadora y su arquitectura.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¿Qué es una computadora?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Máquina electrónica que </a:t>
            </a:r>
            <a:r>
              <a:rPr b="1" sz="2400">
                <a:solidFill>
                  <a:srgbClr val="000000"/>
                </a:solidFill>
                <a:latin typeface="Open Sans"/>
              </a:rPr>
              <a:t>recibe datos</a:t>
            </a:r>
            <a:r>
              <a:rPr b="0" sz="2400">
                <a:solidFill>
                  <a:srgbClr val="000000"/>
                </a:solidFill>
                <a:latin typeface="Open Sans"/>
              </a:rPr>
              <a:t>, los </a:t>
            </a:r>
            <a:r>
              <a:rPr b="1" sz="2400">
                <a:solidFill>
                  <a:srgbClr val="000000"/>
                </a:solidFill>
                <a:latin typeface="Open Sans"/>
              </a:rPr>
              <a:t>procesa</a:t>
            </a:r>
            <a:r>
              <a:rPr b="0" sz="2400">
                <a:solidFill>
                  <a:srgbClr val="000000"/>
                </a:solidFill>
                <a:latin typeface="Open Sans"/>
              </a:rPr>
              <a:t> según instrucciones y entrega </a:t>
            </a:r>
            <a:r>
              <a:rPr b="1" sz="2400">
                <a:solidFill>
                  <a:srgbClr val="000000"/>
                </a:solidFill>
                <a:latin typeface="Open Sans"/>
              </a:rPr>
              <a:t>información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Ciclo básico: </a:t>
            </a:r>
            <a:r>
              <a:rPr b="1" sz="2400">
                <a:solidFill>
                  <a:srgbClr val="000000"/>
                </a:solidFill>
                <a:latin typeface="Open Sans"/>
              </a:rPr>
              <a:t>entrada → proceso → salida</a:t>
            </a:r>
            <a:r>
              <a:rPr b="0" sz="2400">
                <a:solidFill>
                  <a:srgbClr val="000000"/>
                </a:solidFill>
                <a:latin typeface="Open Sans"/>
              </a:rPr>
              <a:t> (con almacenamiento).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Funciona gracias a la cooperación de </a:t>
            </a:r>
            <a:r>
              <a:rPr b="1" sz="2400">
                <a:solidFill>
                  <a:srgbClr val="000000"/>
                </a:solidFill>
                <a:latin typeface="Open Sans"/>
              </a:rPr>
              <a:t>hardware</a:t>
            </a:r>
            <a:r>
              <a:rPr b="0" sz="2400">
                <a:solidFill>
                  <a:srgbClr val="000000"/>
                </a:solidFill>
                <a:latin typeface="Open Sans"/>
              </a:rPr>
              <a:t> y </a:t>
            </a:r>
            <a:r>
              <a:rPr b="1" sz="2400">
                <a:solidFill>
                  <a:srgbClr val="000000"/>
                </a:solidFill>
                <a:latin typeface="Open Sans"/>
              </a:rPr>
              <a:t>software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Dato = hecho sin contexto; </a:t>
            </a:r>
            <a:r>
              <a:rPr b="1" sz="2400">
                <a:solidFill>
                  <a:srgbClr val="000000"/>
                </a:solidFill>
                <a:latin typeface="Open Sans"/>
              </a:rPr>
              <a:t>información</a:t>
            </a:r>
            <a:r>
              <a:rPr b="0" sz="2400">
                <a:solidFill>
                  <a:srgbClr val="000000"/>
                </a:solidFill>
                <a:latin typeface="Open Sans"/>
              </a:rPr>
              <a:t> = dato procesado con significado.</a:t>
            </a:r>
          </a:p>
        </p:txBody>
      </p:sp>
      <p:pic>
        <p:nvPicPr>
          <p:cNvPr id="151" name="Picture 150" descr="f2_cap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000" y="4437000"/>
            <a:ext cx="11000000" cy="55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493371" y="547445"/>
            <a:ext cx="11301259" cy="1553923"/>
          </a:xfrm>
          <a:custGeom>
            <a:rect b="b" l="l" r="r" t="t"/>
            <a:pathLst>
              <a:path extrusionOk="0" h="1553923" w="11301259">
                <a:moveTo>
                  <a:pt x="0" y="0"/>
                </a:moveTo>
                <a:lnTo>
                  <a:pt x="11301258" y="0"/>
                </a:lnTo>
                <a:lnTo>
                  <a:pt x="11301258" y="1553923"/>
                </a:lnTo>
                <a:lnTo>
                  <a:pt x="0" y="15539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967873" y="2798489"/>
            <a:ext cx="14352253" cy="5956185"/>
          </a:xfrm>
          <a:custGeom>
            <a:rect b="b" l="l" r="r" t="t"/>
            <a:pathLst>
              <a:path extrusionOk="0" h="5956185" w="14352253">
                <a:moveTo>
                  <a:pt x="0" y="0"/>
                </a:moveTo>
                <a:lnTo>
                  <a:pt x="14352254" y="0"/>
                </a:lnTo>
                <a:lnTo>
                  <a:pt x="14352254" y="5956185"/>
                </a:lnTo>
                <a:lnTo>
                  <a:pt x="0" y="5956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2350000" y="3000000"/>
            <a:ext cx="13600000" cy="5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Computadora</a:t>
            </a:r>
            <a:r>
              <a:rPr b="0" sz="2600">
                <a:solidFill>
                  <a:srgbClr val="000000"/>
                </a:solidFill>
                <a:latin typeface="Open Sans"/>
              </a:rPr>
              <a:t> = hardware + software que procesa datos para obtener información.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Hardware</a:t>
            </a:r>
            <a:r>
              <a:rPr b="0" sz="2600">
                <a:solidFill>
                  <a:srgbClr val="000000"/>
                </a:solidFill>
                <a:latin typeface="Open Sans"/>
              </a:rPr>
              <a:t> son los componentes físicos; </a:t>
            </a:r>
            <a:r>
              <a:rPr b="1" sz="2600">
                <a:solidFill>
                  <a:srgbClr val="000000"/>
                </a:solidFill>
                <a:latin typeface="Open Sans"/>
              </a:rPr>
              <a:t>software</a:t>
            </a:r>
            <a:r>
              <a:rPr b="0" sz="2600">
                <a:solidFill>
                  <a:srgbClr val="000000"/>
                </a:solidFill>
                <a:latin typeface="Open Sans"/>
              </a:rPr>
              <a:t> los programas.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La </a:t>
            </a:r>
            <a:r>
              <a:rPr b="1" sz="2600">
                <a:solidFill>
                  <a:srgbClr val="000000"/>
                </a:solidFill>
                <a:latin typeface="Open Sans"/>
              </a:rPr>
              <a:t>RAM</a:t>
            </a:r>
            <a:r>
              <a:rPr b="0" sz="2600">
                <a:solidFill>
                  <a:srgbClr val="000000"/>
                </a:solidFill>
                <a:latin typeface="Open Sans"/>
              </a:rPr>
              <a:t> es volátil; el </a:t>
            </a:r>
            <a:r>
              <a:rPr b="1" sz="2600">
                <a:solidFill>
                  <a:srgbClr val="000000"/>
                </a:solidFill>
                <a:latin typeface="Open Sans"/>
              </a:rPr>
              <a:t>almacenamiento</a:t>
            </a:r>
            <a:r>
              <a:rPr b="0" sz="2600">
                <a:solidFill>
                  <a:srgbClr val="000000"/>
                </a:solidFill>
                <a:latin typeface="Open Sans"/>
              </a:rPr>
              <a:t> secundario es persistente.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El software se clasifica en sistema, aplicación, programación y firmware.</a:t>
            </a:r>
          </a:p>
          <a:p>
            <a:pPr indent="-363220" lvl="1" marL="36322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El ciclo </a:t>
            </a:r>
            <a:r>
              <a:rPr b="1" sz="2600">
                <a:solidFill>
                  <a:srgbClr val="000000"/>
                </a:solidFill>
                <a:latin typeface="Open Sans"/>
              </a:rPr>
              <a:t>fetch-decode-execute</a:t>
            </a:r>
            <a:r>
              <a:rPr b="0" sz="2600">
                <a:solidFill>
                  <a:srgbClr val="000000"/>
                </a:solidFill>
                <a:latin typeface="Open Sans"/>
              </a:rPr>
              <a:t> repite: leer, interpretar y ejecutar.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2317017" y="520965"/>
            <a:ext cx="13653966" cy="1873953"/>
          </a:xfrm>
          <a:custGeom>
            <a:rect b="b" l="l" r="r" t="t"/>
            <a:pathLst>
              <a:path extrusionOk="0" h="1873953" w="13653966">
                <a:moveTo>
                  <a:pt x="0" y="0"/>
                </a:moveTo>
                <a:lnTo>
                  <a:pt x="13653966" y="0"/>
                </a:lnTo>
                <a:lnTo>
                  <a:pt x="13653966" y="1873953"/>
                </a:lnTo>
                <a:lnTo>
                  <a:pt x="0" y="18739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9"/>
          <p:cNvSpPr/>
          <p:nvPr/>
        </p:nvSpPr>
        <p:spPr>
          <a:xfrm>
            <a:off x="1989089" y="2422796"/>
            <a:ext cx="14309822" cy="6206885"/>
          </a:xfrm>
          <a:custGeom>
            <a:rect b="b" l="l" r="r" t="t"/>
            <a:pathLst>
              <a:path extrusionOk="0" h="6206885" w="14309822">
                <a:moveTo>
                  <a:pt x="0" y="0"/>
                </a:moveTo>
                <a:lnTo>
                  <a:pt x="14309822" y="0"/>
                </a:lnTo>
                <a:lnTo>
                  <a:pt x="14309822" y="6206885"/>
                </a:lnTo>
                <a:lnTo>
                  <a:pt x="0" y="6206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9"/>
          <p:cNvSpPr txBox="1"/>
          <p:nvPr/>
        </p:nvSpPr>
        <p:spPr>
          <a:xfrm>
            <a:off x="2500000" y="2700000"/>
            <a:ext cx="13300000" cy="5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Tanenbaum, A. S. y Austin, T. (2013). Structured Computer Organization (6.ª ed.). Pearson.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Patterson, D. A. y Hennessy, J. L. (2014). Computer Organization and Design (5.ª ed.). Morgan Kaufmann.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Stallings, W. (2022). Computer Organization and Architecture (11.ª ed.). Pearson.</a:t>
            </a:r>
          </a:p>
          <a:p>
            <a:pPr indent="-279400" lvl="0" marL="279400" marR="0" rtl="0" algn="l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b="0" sz="2000">
                <a:solidFill>
                  <a:srgbClr val="000000"/>
                </a:solidFill>
                <a:latin typeface="Open Sans"/>
              </a:rPr>
              <a:t>Computer History Museum – Timeline of Computer History: https://www.computerhistory.org/timeline/computers/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0" y="0"/>
            <a:ext cx="18288000" cy="7292340"/>
          </a:xfrm>
          <a:custGeom>
            <a:rect b="b" l="l" r="r" t="t"/>
            <a:pathLst>
              <a:path extrusionOk="0" h="7292340" w="18288000">
                <a:moveTo>
                  <a:pt x="0" y="0"/>
                </a:moveTo>
                <a:lnTo>
                  <a:pt x="18288000" y="0"/>
                </a:lnTo>
                <a:lnTo>
                  <a:pt x="18288000" y="7292340"/>
                </a:lnTo>
                <a:lnTo>
                  <a:pt x="0" y="7292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TextBox 173"/>
          <p:cNvSpPr txBox="1"/>
          <p:nvPr/>
        </p:nvSpPr>
        <p:spPr>
          <a:xfrm>
            <a:off x="900000" y="7450000"/>
            <a:ext cx="16500000" cy="26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800"/>
              </a:spcAft>
            </a:pPr>
            <a:r>
              <a:rPr b="1" sz="2800">
                <a:solidFill>
                  <a:srgbClr val="000000"/>
                </a:solidFill>
                <a:latin typeface="Open Sans"/>
              </a:rPr>
              <a:t>Ejercicio demostrativo: Traza del ciclo fetch-decode-execute</a:t>
            </a:r>
            <a:r>
              <a:rPr b="0" sz="2800">
                <a:solidFill>
                  <a:srgbClr val="000000"/>
                </a:solidFill>
                <a:latin typeface="Open Sans"/>
              </a:rPr>
              <a:t>  ·  14 min</a:t>
            </a:r>
          </a:p>
          <a:p>
            <a:pPr algn="ctr">
              <a:spcAft>
                <a:spcPts val="800"/>
              </a:spcAft>
            </a:pPr>
            <a:r>
              <a:rPr b="0" sz="2800">
                <a:solidFill>
                  <a:srgbClr val="000000"/>
                </a:solidFill>
                <a:latin typeface="Open Sans"/>
              </a:rPr>
              <a:t>Seguimos paso a paso cómo una computadora imaginaria ejecuta tres instrucciones, anotando PC, IR y acumulador.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/>
          <p:nvPr/>
        </p:nvSpPr>
        <p:spPr>
          <a:xfrm>
            <a:off x="0" y="0"/>
            <a:ext cx="18288000" cy="6217920"/>
          </a:xfrm>
          <a:custGeom>
            <a:rect b="b" l="l" r="r" t="t"/>
            <a:pathLst>
              <a:path extrusionOk="0" h="6217920" w="18288000">
                <a:moveTo>
                  <a:pt x="0" y="0"/>
                </a:moveTo>
                <a:lnTo>
                  <a:pt x="18288000" y="0"/>
                </a:lnTo>
                <a:lnTo>
                  <a:pt x="18288000" y="6217920"/>
                </a:lnTo>
                <a:lnTo>
                  <a:pt x="0" y="6217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TextBox 182"/>
          <p:cNvSpPr txBox="1"/>
          <p:nvPr/>
        </p:nvSpPr>
        <p:spPr>
          <a:xfrm>
            <a:off x="900000" y="6500000"/>
            <a:ext cx="16500000" cy="35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b="1" sz="2600">
                <a:solidFill>
                  <a:srgbClr val="000000"/>
                </a:solidFill>
                <a:latin typeface="Open Sans"/>
              </a:rPr>
              <a:t>Actividad: Ciclo fetch-decode-execute en ejemplos guiados</a:t>
            </a:r>
            <a:r>
              <a:rPr b="0" sz="2600">
                <a:solidFill>
                  <a:srgbClr val="000000"/>
                </a:solidFill>
                <a:latin typeface="Open Sans"/>
              </a:rPr>
              <a:t>  ·  40 min  ·  Ponderación: 0 pts (formativa)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Identificar cada etapa del ciclo sobre tres ejemplos.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Completar la tabla de trazado de registros.</a:t>
            </a:r>
          </a:p>
          <a:p>
            <a:pPr algn="l">
              <a:spcAft>
                <a:spcPts val="800"/>
              </a:spcAft>
            </a:pPr>
            <a:r>
              <a:rPr b="0" sz="2600">
                <a:solidFill>
                  <a:srgbClr val="000000"/>
                </a:solidFill>
                <a:latin typeface="Open Sans"/>
              </a:rPr>
              <a:t>• Actividad 2 (optativa): foro de preguntas y respuestas (12 min).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2"/>
          <p:cNvSpPr txBox="1"/>
          <p:nvPr/>
        </p:nvSpPr>
        <p:spPr>
          <a:xfrm>
            <a:off x="5600000" y="1667078"/>
            <a:ext cx="4700000" cy="481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1800">
                <a:solidFill>
                  <a:srgbClr val="000000"/>
                </a:solidFill>
                <a:latin typeface="Open Sans"/>
              </a:rPr>
              <a:t>Actividad: Ciclo fetch-decode-execute en ejemplos guiados</a:t>
            </a:r>
          </a:p>
        </p:txBody>
      </p:sp>
      <p:sp>
        <p:nvSpPr>
          <p:cNvPr id="193" name="Google Shape;193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4" name="Google Shape;194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000">
                <a:solidFill>
                  <a:srgbClr val="000000"/>
                </a:solidFill>
                <a:latin typeface="Open Sans"/>
              </a:rPr>
              <a:t>Sí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6" name="Google Shape;196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sz="2200">
                <a:solidFill>
                  <a:srgbClr val="000000"/>
                </a:solidFill>
                <a:latin typeface="Open Sans"/>
              </a:rPr>
              <a:t>40 min</a:t>
            </a: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5" name="Google Shape;205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8" name="Google Shape;208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1" name="Google Shape;211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3493371" y="-591537"/>
            <a:ext cx="11301259" cy="5113820"/>
          </a:xfrm>
          <a:custGeom>
            <a:rect b="b" l="l" r="r" t="t"/>
            <a:pathLst>
              <a:path extrusionOk="0" h="5113820" w="11301259">
                <a:moveTo>
                  <a:pt x="0" y="0"/>
                </a:moveTo>
                <a:lnTo>
                  <a:pt x="11301258" y="0"/>
                </a:lnTo>
                <a:lnTo>
                  <a:pt x="11301258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3"/>
          <p:cNvSpPr/>
          <p:nvPr/>
        </p:nvSpPr>
        <p:spPr>
          <a:xfrm>
            <a:off x="2197698" y="3492869"/>
            <a:ext cx="13892604" cy="5765431"/>
          </a:xfrm>
          <a:custGeom>
            <a:rect b="b" l="l" r="r" t="t"/>
            <a:pathLst>
              <a:path extrusionOk="0" h="5765431" w="13892604">
                <a:moveTo>
                  <a:pt x="0" y="0"/>
                </a:moveTo>
                <a:lnTo>
                  <a:pt x="13892604" y="0"/>
                </a:lnTo>
                <a:lnTo>
                  <a:pt x="13892604" y="5765431"/>
                </a:lnTo>
                <a:lnTo>
                  <a:pt x="0" y="5765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3"/>
          <p:cNvSpPr txBox="1"/>
          <p:nvPr/>
        </p:nvSpPr>
        <p:spPr>
          <a:xfrm>
            <a:off x="2580394" y="3800000"/>
            <a:ext cx="13127212" cy="5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Video de la semana (6 min): canal de YouTube del curso 768 – Algoritmos.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Lectura (10 min): «De la máquina de Turing a la computadora actual».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Tarea 1: infografía + captura de RAPTOR/PSeInt (entrega 02/08).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RAPTOR: https://raptor.martincarlisle.com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PSeInt: https://pseint.sourceforge.net</a:t>
            </a:r>
          </a:p>
          <a:p>
            <a:pPr indent="-335280" lvl="1" marL="335280" marR="0" rtl="0" algn="l">
              <a:lnSpc>
                <a:spcPct val="140014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Dudas: foro del curso en UEDI.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Evolución de la computadora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Cada generación cambió tamaño, velocidad, consumo y costo.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De máquinas de sala completa a dispositivos de bolsillo.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600">
                <a:solidFill>
                  <a:srgbClr val="000000"/>
                </a:solidFill>
                <a:latin typeface="Open Sans"/>
              </a:rPr>
              <a:t>La ley de Moore explica el crecimiento de transistores por chip.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42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333"/>
                <a:gridCol w="2883333"/>
                <a:gridCol w="2883334"/>
              </a:tblGrid>
              <a:tr h="713000">
                <a:tc>
                  <a:txBody>
                    <a:bodyPr wrap="square"/>
                    <a:lstStyle/>
                    <a:p>
                      <a:r>
                        <a:rPr b="1" sz="2320">
                          <a:solidFill>
                            <a:srgbClr val="FFFFFF"/>
                          </a:solidFill>
                          <a:latin typeface="Open Sans"/>
                        </a:rPr>
                        <a:t>Generación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320">
                          <a:solidFill>
                            <a:srgbClr val="FFFFFF"/>
                          </a:solidFill>
                          <a:latin typeface="Open Sans"/>
                        </a:rPr>
                        <a:t>Tecnología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320">
                          <a:solidFill>
                            <a:srgbClr val="FFFFFF"/>
                          </a:solidFill>
                          <a:latin typeface="Open Sans"/>
                        </a:rPr>
                        <a:t>Ejemplo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1ª (1940–56)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Tubos de vacío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ENIAC, UNIVAC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2ª (1956–63)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Transistores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IBM 7090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3ª (1964–71)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Circuitos integrados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IBM System/360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4ª (1971–hoy)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Microprocesador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PC, smartphones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13000"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Actual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IA, nube, cuántica (investigación)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320">
                          <a:solidFill>
                            <a:srgbClr val="1F1F1F"/>
                          </a:solidFill>
                          <a:latin typeface="Open Sans"/>
                        </a:rPr>
                        <a:t>Servidores GPU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Hardware: componentes físicos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79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CPU:</a:t>
            </a:r>
            <a:r>
              <a:rPr b="0" sz="2600">
                <a:solidFill>
                  <a:srgbClr val="000000"/>
                </a:solidFill>
                <a:latin typeface="Open Sans"/>
              </a:rPr>
              <a:t> ejecuta las instrucciones.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Memoria principal (RAM):</a:t>
            </a:r>
            <a:r>
              <a:rPr b="0" sz="2600">
                <a:solidFill>
                  <a:srgbClr val="000000"/>
                </a:solidFill>
                <a:latin typeface="Open Sans"/>
              </a:rPr>
              <a:t> volátil, guarda datos e instrucciones en uso.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Almacenamiento secundario:</a:t>
            </a:r>
            <a:r>
              <a:rPr b="0" sz="2600">
                <a:solidFill>
                  <a:srgbClr val="000000"/>
                </a:solidFill>
                <a:latin typeface="Open Sans"/>
              </a:rPr>
              <a:t> HDD, SSD; persistente.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Dispositivos de entrada y salida:</a:t>
            </a:r>
            <a:r>
              <a:rPr b="0" sz="2600">
                <a:solidFill>
                  <a:srgbClr val="000000"/>
                </a:solidFill>
                <a:latin typeface="Open Sans"/>
              </a:rPr>
              <a:t> teclado, mouse, pantalla, impresora.</a:t>
            </a:r>
          </a:p>
          <a:p>
            <a:pPr indent="-363220" lvl="0" marL="36322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2600">
                <a:solidFill>
                  <a:srgbClr val="000000"/>
                </a:solidFill>
                <a:latin typeface="Open Sans"/>
              </a:rPr>
              <a:t>Placa base y buses:</a:t>
            </a:r>
            <a:r>
              <a:rPr b="0" sz="2600">
                <a:solidFill>
                  <a:srgbClr val="000000"/>
                </a:solidFill>
                <a:latin typeface="Open Sans"/>
              </a:rPr>
              <a:t> conectan todos los componentes.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9100000" y="2100000"/>
          <a:ext cx="8650000" cy="3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333"/>
                <a:gridCol w="2883333"/>
                <a:gridCol w="2883334"/>
              </a:tblGrid>
              <a:tr h="736000"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Componente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Función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2610">
                          <a:solidFill>
                            <a:srgbClr val="FFFFFF"/>
                          </a:solidFill>
                          <a:latin typeface="Open Sans"/>
                        </a:rPr>
                        <a:t>¿Volátil?</a:t>
                      </a:r>
                    </a:p>
                  </a:txBody>
                  <a:tcPr marL="80000" marR="80000" marT="40000" marB="40000">
                    <a:solidFill>
                      <a:srgbClr val="F5A623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CPU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Procesar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—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RAM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Memoria de trabajo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Sí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SSD / HDD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Almacenamiento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No</a:t>
                      </a:r>
                    </a:p>
                  </a:txBody>
                  <a:tcPr marL="80000" marR="80000" marT="40000" marB="40000">
                    <a:solidFill>
                      <a:srgbClr val="FFF7E6"/>
                    </a:solidFill>
                  </a:tcPr>
                </a:tc>
              </a:tr>
              <a:tr h="736000"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E/S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Interacción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2610">
                          <a:solidFill>
                            <a:srgbClr val="1F1F1F"/>
                          </a:solidFill>
                          <a:latin typeface="Open Sans"/>
                        </a:rPr>
                        <a:t>—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Software: componentes lógicos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7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3000">
                <a:solidFill>
                  <a:srgbClr val="000000"/>
                </a:solidFill>
                <a:latin typeface="Open Sans"/>
              </a:rPr>
              <a:t>Conjunto de </a:t>
            </a:r>
            <a:r>
              <a:rPr b="1" sz="3000">
                <a:solidFill>
                  <a:srgbClr val="000000"/>
                </a:solidFill>
                <a:latin typeface="Open Sans"/>
              </a:rPr>
              <a:t>programas e instrucciones</a:t>
            </a:r>
            <a:r>
              <a:rPr b="0" sz="3000">
                <a:solidFill>
                  <a:srgbClr val="000000"/>
                </a:solidFill>
                <a:latin typeface="Open Sans"/>
              </a:rPr>
              <a:t> que indican al hardware qué hacer.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Software de sistema:</a:t>
            </a:r>
            <a:r>
              <a:rPr b="0" sz="3000">
                <a:solidFill>
                  <a:srgbClr val="000000"/>
                </a:solidFill>
                <a:latin typeface="Open Sans"/>
              </a:rPr>
              <a:t> sistema operativo, controladores, utilitarios.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Software de aplicación:</a:t>
            </a:r>
            <a:r>
              <a:rPr b="0" sz="3000">
                <a:solidFill>
                  <a:srgbClr val="000000"/>
                </a:solidFill>
                <a:latin typeface="Open Sans"/>
              </a:rPr>
              <a:t> ofimática, navegadores, ERP.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Software de programación:</a:t>
            </a:r>
            <a:r>
              <a:rPr b="0" sz="3000">
                <a:solidFill>
                  <a:srgbClr val="000000"/>
                </a:solidFill>
                <a:latin typeface="Open Sans"/>
              </a:rPr>
              <a:t> compiladores, intérpretes, IDEs (PSeInt, RAPTOR).</a:t>
            </a:r>
          </a:p>
          <a:p>
            <a:pPr indent="-419100" lvl="0" marL="41910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1" sz="3000">
                <a:solidFill>
                  <a:srgbClr val="000000"/>
                </a:solidFill>
                <a:latin typeface="Open Sans"/>
              </a:rPr>
              <a:t>Firmware:</a:t>
            </a:r>
            <a:r>
              <a:rPr b="0" sz="3000">
                <a:solidFill>
                  <a:srgbClr val="000000"/>
                </a:solidFill>
                <a:latin typeface="Open Sans"/>
              </a:rPr>
              <a:t> programa grabado en el hardware (BIOS/UEFI).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9" name="Google Shape;149;p6"/>
          <p:cNvSpPr txBox="1"/>
          <p:nvPr/>
        </p:nvSpPr>
        <p:spPr>
          <a:xfrm>
            <a:off x="700000" y="450000"/>
            <a:ext cx="16900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sz="4800">
                <a:solidFill>
                  <a:srgbClr val="000000"/>
                </a:solidFill>
                <a:latin typeface="Open Sans"/>
              </a:rPr>
              <a:t>Procesamiento de la información</a:t>
            </a:r>
          </a:p>
        </p:txBody>
      </p:sp>
      <p:sp>
        <p:nvSpPr>
          <p:cNvPr id="150" name="Google Shape;150;p6"/>
          <p:cNvSpPr txBox="1"/>
          <p:nvPr/>
        </p:nvSpPr>
        <p:spPr>
          <a:xfrm>
            <a:off x="900000" y="1900000"/>
            <a:ext cx="16400000" cy="4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El procesador repite continuamente el ciclo </a:t>
            </a:r>
            <a:r>
              <a:rPr b="1" sz="2400">
                <a:solidFill>
                  <a:srgbClr val="000000"/>
                </a:solidFill>
                <a:latin typeface="Open Sans"/>
              </a:rPr>
              <a:t>fetch–decode–execute</a:t>
            </a:r>
            <a:r>
              <a:rPr b="0" sz="2400">
                <a:solidFill>
                  <a:srgbClr val="000000"/>
                </a:solidFill>
                <a:latin typeface="Open Sans"/>
              </a:rPr>
              <a:t>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Las instrucciones y los datos viajan entre CPU y memoria por los buses.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Un algoritmo es la secuencia ordenada de pasos que la computadora ejecuta.</a:t>
            </a:r>
          </a:p>
          <a:p>
            <a:pPr indent="-335280" lvl="0" marL="335280" marR="0" rtl="0" algn="l">
              <a:lnSpc>
                <a:spcPct val="139958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b="0" sz="2400">
                <a:solidFill>
                  <a:srgbClr val="000000"/>
                </a:solidFill>
                <a:latin typeface="Open Sans"/>
              </a:rPr>
              <a:t>Hoy trazaremos el ciclo paso a paso con un ejemplo guiado.</a:t>
            </a:r>
          </a:p>
        </p:txBody>
      </p:sp>
      <p:pic>
        <p:nvPicPr>
          <p:cNvPr id="151" name="Picture 150" descr="f3_cic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000" y="5618312"/>
            <a:ext cx="11000000" cy="4318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