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11 – 26/09/2026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6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Administración y representación de algoritmos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11: Introducción al control de versiones con Git y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5 (interfaz en MIT App Inventor): entrega 02/10.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Última sesión de contenido: Git y GitHub.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Proyecto 2 (conversor de sistemas numéricos): asignación 26/09 – entrega 25/10.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 damos la retroalimentación del curso.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¿Por qué control de versiones?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Funcionamiento de Git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Repositorio local y remoto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Crear e inicializar un repositorio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Retroalimentación y clausura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Prueba el funcionamiento y la corrección de algoritmos mediante pruebas de escritorio, casos de prueba y ejecución para detectar errores lógicos y comprobar el cumplimiento de los resultados esperados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General:</a:t>
            </a:r>
            <a:r>
              <a:rPr b="0" sz="2200">
                <a:solidFill>
                  <a:srgbClr val="000000"/>
                </a:solidFill>
                <a:latin typeface="Open Sans"/>
              </a:rPr>
              <a:t> Analiza problemas computacionales y formula soluciones algorítmicas utilizando pensamiento computacional, pseudocódigo y diagramas de flujo en las tecnologías establecidas para representar el procesamiento y flujo de datos bajo criterios de corrección lógica, claridad y orden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Responsabilidad académica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Compromiso de administrar, documentar y compartir el trabajo académico de manera organizada, ética y transparente.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Usar Git y GitHub para registrar los cambios en los algoritmos, conservar un historial comprensible y respetar la autoría del código y de los recursos utilizados.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¿Por qué controlar versiones?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Registra la </a:t>
            </a:r>
            <a:r>
              <a:rPr b="1" sz="3000">
                <a:solidFill>
                  <a:srgbClr val="000000"/>
                </a:solidFill>
                <a:latin typeface="Open Sans"/>
              </a:rPr>
              <a:t>historia</a:t>
            </a:r>
            <a:r>
              <a:rPr b="0" sz="3000">
                <a:solidFill>
                  <a:srgbClr val="000000"/>
                </a:solidFill>
                <a:latin typeface="Open Sans"/>
              </a:rPr>
              <a:t> de cambios de un proyecto.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Permite </a:t>
            </a:r>
            <a:r>
              <a:rPr b="1" sz="3000">
                <a:solidFill>
                  <a:srgbClr val="000000"/>
                </a:solidFill>
                <a:latin typeface="Open Sans"/>
              </a:rPr>
              <a:t>volver</a:t>
            </a:r>
            <a:r>
              <a:rPr b="0" sz="3000">
                <a:solidFill>
                  <a:srgbClr val="000000"/>
                </a:solidFill>
                <a:latin typeface="Open Sans"/>
              </a:rPr>
              <a:t> a una versión anterior y </a:t>
            </a:r>
            <a:r>
              <a:rPr b="1" sz="3000">
                <a:solidFill>
                  <a:srgbClr val="000000"/>
                </a:solidFill>
                <a:latin typeface="Open Sans"/>
              </a:rPr>
              <a:t>comparar</a:t>
            </a:r>
            <a:r>
              <a:rPr b="0" sz="3000">
                <a:solidFill>
                  <a:srgbClr val="000000"/>
                </a:solidFill>
                <a:latin typeface="Open Sans"/>
              </a:rPr>
              <a:t> cambios.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Facilita </a:t>
            </a:r>
            <a:r>
              <a:rPr b="1" sz="3000">
                <a:solidFill>
                  <a:srgbClr val="000000"/>
                </a:solidFill>
                <a:latin typeface="Open Sans"/>
              </a:rPr>
              <a:t>colaborar</a:t>
            </a:r>
            <a:r>
              <a:rPr b="0" sz="3000">
                <a:solidFill>
                  <a:srgbClr val="000000"/>
                </a:solidFill>
                <a:latin typeface="Open Sans"/>
              </a:rPr>
              <a:t> sin sobrescribir el trabajo de otros.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Sirve como </a:t>
            </a:r>
            <a:r>
              <a:rPr b="1" sz="3000">
                <a:solidFill>
                  <a:srgbClr val="000000"/>
                </a:solidFill>
                <a:latin typeface="Open Sans"/>
              </a:rPr>
              <a:t>evidencia</a:t>
            </a:r>
            <a:r>
              <a:rPr b="0" sz="3000">
                <a:solidFill>
                  <a:srgbClr val="000000"/>
                </a:solidFill>
                <a:latin typeface="Open Sans"/>
              </a:rPr>
              <a:t> de autoría y avance continuo.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Se utiliza en toda la industria del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Control de versiones</a:t>
            </a:r>
            <a:r>
              <a:rPr b="0" sz="2600">
                <a:solidFill>
                  <a:srgbClr val="000000"/>
                </a:solidFill>
                <a:latin typeface="Open Sans"/>
              </a:rPr>
              <a:t> guarda la historia del proyecto.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Commit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instantánea con mensaje.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add → commit → push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 el flujo básico.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Local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(su equipo) y </a:t>
            </a:r>
            <a:r>
              <a:rPr b="1" sz="2600">
                <a:solidFill>
                  <a:srgbClr val="000000"/>
                </a:solidFill>
                <a:latin typeface="Open Sans"/>
              </a:rPr>
              <a:t>remoto</a:t>
            </a:r>
            <a:r>
              <a:rPr b="0" sz="2600">
                <a:solidFill>
                  <a:srgbClr val="000000"/>
                </a:solidFill>
                <a:latin typeface="Open Sans"/>
              </a:rPr>
              <a:t> (GitHub).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Mensajes claros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facilitan la revisión.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Autoría y ética</a:t>
            </a:r>
            <a:r>
              <a:rPr b="0" sz="2600">
                <a:solidFill>
                  <a:srgbClr val="000000"/>
                </a:solidFill>
                <a:latin typeface="Open Sans"/>
              </a:rPr>
              <a:t> al compartir código.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Chacon, S. y Straub, B. Pro Git (2.ª ed.): https://git-scm.com/book/es/v2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GitHub Docs – Guía rápida: https://docs.github.com/es/get-started/quickstart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Documentación de Git: https://git-scm.com/doc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GitHub Skills: https://skills.github.com/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Primer repositorio con un algoritmo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20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Creamos un repositorio, hacemos dos commits de un algoritmo y lo publicamos en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Retroalimentación del curso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Análisis de lo aprendido durante el semestre.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Cómo ayudará en el resto de la carrera.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Clausura del curso.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Retroalimentación del curso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(5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«Git para estudiantes: guardar y compartir su trabajo».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Descarga de Git: https://git-scm.com/downloads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Proyecto 2: entrega 25/10; Tarea 5: entrega 02/10.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Funcionamiento de Git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Git</a:t>
            </a:r>
            <a:r>
              <a:rPr b="0" sz="2400">
                <a:solidFill>
                  <a:srgbClr val="000000"/>
                </a:solidFill>
                <a:latin typeface="Open Sans"/>
              </a:rPr>
              <a:t> es un sistema de control de versiones </a:t>
            </a:r>
            <a:r>
              <a:rPr b="1" sz="2400">
                <a:solidFill>
                  <a:srgbClr val="000000"/>
                </a:solidFill>
                <a:latin typeface="Open Sans"/>
              </a:rPr>
              <a:t>distribuido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Un </a:t>
            </a:r>
            <a:r>
              <a:rPr b="1" sz="2400">
                <a:solidFill>
                  <a:srgbClr val="000000"/>
                </a:solidFill>
                <a:latin typeface="Open Sans"/>
              </a:rPr>
              <a:t>commit</a:t>
            </a:r>
            <a:r>
              <a:rPr b="0" sz="2400">
                <a:solidFill>
                  <a:srgbClr val="000000"/>
                </a:solidFill>
                <a:latin typeface="Open Sans"/>
              </a:rPr>
              <a:t> guarda una instantánea con mensaje.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Tres áreas: directorio de trabajo, preparación (staging) y repositorio.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GitHub</a:t>
            </a:r>
            <a:r>
              <a:rPr b="0" sz="2400">
                <a:solidFill>
                  <a:srgbClr val="000000"/>
                </a:solidFill>
                <a:latin typeface="Open Sans"/>
              </a:rPr>
              <a:t> aloja repositorios remotos.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Los commits forman una historia ordenada.</a:t>
            </a:r>
          </a:p>
        </p:txBody>
      </p:sp>
      <p:pic>
        <p:nvPicPr>
          <p:cNvPr id="151" name="Picture 150" descr="f11_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6039581"/>
            <a:ext cx="11000000" cy="38974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Repositorio local y remoto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Local:</a:t>
            </a:r>
            <a:r>
              <a:rPr b="0" sz="3000">
                <a:solidFill>
                  <a:srgbClr val="000000"/>
                </a:solidFill>
                <a:latin typeface="Open Sans"/>
              </a:rPr>
              <a:t> vive en su computadora (carpeta </a:t>
            </a:r>
            <a:r>
              <a:rPr b="1" sz="3000">
                <a:solidFill>
                  <a:srgbClr val="B3261E"/>
                </a:solidFill>
                <a:latin typeface="Consolas"/>
              </a:rPr>
              <a:t>.git</a:t>
            </a:r>
            <a:r>
              <a:rPr b="0" sz="3000">
                <a:solidFill>
                  <a:srgbClr val="000000"/>
                </a:solidFill>
                <a:latin typeface="Open Sans"/>
              </a:rPr>
              <a:t>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Remoto:</a:t>
            </a:r>
            <a:r>
              <a:rPr b="0" sz="3000">
                <a:solidFill>
                  <a:srgbClr val="000000"/>
                </a:solidFill>
                <a:latin typeface="Open Sans"/>
              </a:rPr>
              <a:t> copia en GitHub, accesible desde cualquier lugar.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B3261E"/>
                </a:solidFill>
                <a:latin typeface="Consolas"/>
              </a:rPr>
              <a:t>git push</a:t>
            </a:r>
            <a:r>
              <a:rPr b="0" sz="3000">
                <a:solidFill>
                  <a:srgbClr val="000000"/>
                </a:solidFill>
                <a:latin typeface="Open Sans"/>
              </a:rPr>
              <a:t> envía commits al remoto; </a:t>
            </a:r>
            <a:r>
              <a:rPr b="1" sz="3000">
                <a:solidFill>
                  <a:srgbClr val="B3261E"/>
                </a:solidFill>
                <a:latin typeface="Consolas"/>
              </a:rPr>
              <a:t>git pull</a:t>
            </a:r>
            <a:r>
              <a:rPr b="0" sz="3000">
                <a:solidFill>
                  <a:srgbClr val="000000"/>
                </a:solidFill>
                <a:latin typeface="Open Sans"/>
              </a:rPr>
              <a:t> los trae.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B3261E"/>
                </a:solidFill>
                <a:latin typeface="Consolas"/>
              </a:rPr>
              <a:t>git clone</a:t>
            </a:r>
            <a:r>
              <a:rPr b="0" sz="3000">
                <a:solidFill>
                  <a:srgbClr val="000000"/>
                </a:solidFill>
                <a:latin typeface="Open Sans"/>
              </a:rPr>
              <a:t> descarga un repositorio completo.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Respalda su trabajo y comparte con el tutor.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Creación e inicialización de un repositorio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Configurar identidad (una sola vez).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git init</a:t>
            </a:r>
            <a:r>
              <a:rPr b="0" sz="2600">
                <a:solidFill>
                  <a:srgbClr val="000000"/>
                </a:solidFill>
                <a:latin typeface="Open Sans"/>
              </a:rPr>
              <a:t> crea el repositorio.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B3261E"/>
                </a:solidFill>
                <a:latin typeface="Consolas"/>
              </a:rPr>
              <a:t>git add</a:t>
            </a:r>
            <a:r>
              <a:rPr b="0" sz="2600">
                <a:solidFill>
                  <a:srgbClr val="000000"/>
                </a:solidFill>
                <a:latin typeface="Open Sans"/>
              </a:rPr>
              <a:t> prepara; </a:t>
            </a:r>
            <a:r>
              <a:rPr b="1" sz="2600">
                <a:solidFill>
                  <a:srgbClr val="B3261E"/>
                </a:solidFill>
                <a:latin typeface="Consolas"/>
              </a:rPr>
              <a:t>git commit</a:t>
            </a:r>
            <a:r>
              <a:rPr b="0" sz="2600">
                <a:solidFill>
                  <a:srgbClr val="000000"/>
                </a:solidFill>
                <a:latin typeface="Open Sans"/>
              </a:rPr>
              <a:t> guarda.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Conectar con GitHub y subir.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Mensajes de commit claros y en imperativo.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Terminal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config --global user.name "Ana López"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config --global user.email "ana@ingenieria.usac.edu.gt"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F8F8F2"/>
                </a:solidFill>
                <a:latin typeface="Consolas"/>
              </a:rPr>
              <a:t>mkdir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5C26B"/>
                </a:solidFill>
                <a:latin typeface="Consolas"/>
              </a:rPr>
              <a:t>MisAlgoritmos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&amp;</a:t>
            </a:r>
            <a:r>
              <a:rPr sz="1600">
                <a:solidFill>
                  <a:srgbClr val="F8F8F2"/>
                </a:solidFill>
                <a:latin typeface="Consolas"/>
              </a:rPr>
              <a:t>&amp;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8F8F2"/>
                </a:solidFill>
                <a:latin typeface="Consolas"/>
              </a:rPr>
              <a:t>cd</a:t>
            </a:r>
            <a:r>
              <a:rPr sz="1600">
                <a:solidFill>
                  <a:srgbClr val="F8F8F2"/>
                </a:solidFill>
                <a:latin typeface="Consolas"/>
              </a:rPr>
              <a:t> </a:t>
            </a:r>
            <a:r>
              <a:rPr sz="1600">
                <a:solidFill>
                  <a:srgbClr val="F5C26B"/>
                </a:solidFill>
                <a:latin typeface="Consolas"/>
              </a:rPr>
              <a:t>MisAlgoritmos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init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add Promedio.psc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commit -m "Agrega algoritmo de promedio"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branch -M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remote add origin https://github.com/usuario/MisAlgoritmos.git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push -u origin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status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0E0E0"/>
                </a:solidFill>
                <a:latin typeface="Consolas"/>
              </a:rPr>
              <a:t>git log --oneline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Buenas prácticas con Git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Commits </a:t>
            </a:r>
            <a:r>
              <a:rPr b="1" sz="3000">
                <a:solidFill>
                  <a:srgbClr val="000000"/>
                </a:solidFill>
                <a:latin typeface="Open Sans"/>
              </a:rPr>
              <a:t>pequeños</a:t>
            </a:r>
            <a:r>
              <a:rPr b="0" sz="3000">
                <a:solidFill>
                  <a:srgbClr val="000000"/>
                </a:solidFill>
                <a:latin typeface="Open Sans"/>
              </a:rPr>
              <a:t> y frecuentes.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Mensajes descriptivos: «Corrige condición del ciclo».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No subir archivos innecesarios ni contraseñas.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Un repositorio por proyecto.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Respetar la autoría: citar fuentes y licencias.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