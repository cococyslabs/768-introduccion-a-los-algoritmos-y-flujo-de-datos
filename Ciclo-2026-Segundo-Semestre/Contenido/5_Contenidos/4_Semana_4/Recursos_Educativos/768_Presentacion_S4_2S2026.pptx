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75" r:id="rId28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4 – 08/08/2026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 2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Arquitectura y organización VNA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4: Sistemas de numeración y representación digital de datos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Tarea 2 (control de acceso en RAPTOR): asignación 08/08 – entrega 16/08.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Hoy: conversiones entre decimal, binario, octal y hexadecimal.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Práctica 1: calificación hoy 08/08.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Traigan calculadora de programador (o la del sistema operativo).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Sistemas de numeración posicionales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Conversión decimal ↔ binario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Octal y hexadecimal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Codificación: ASCII, Unicode, ISO-8859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Imágenes, audio y video; actividad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581776"/>
            <a:ext cx="12511183" cy="3424936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850000"/>
            <a:ext cx="10000000" cy="2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8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800">
                <a:solidFill>
                  <a:srgbClr val="000000"/>
                </a:solidFill>
                <a:latin typeface="Open Sans"/>
              </a:rPr>
              <a:t> Convierte valores entre los sistemas decimal, binario, octal y hexadecimal aplicando métodos de conversión posicional y estándares de codificación de información para representar datos digitales con precisión y verificar los resultados obtenidos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Rigor y verificación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Disposición a comprobar sistemáticamente que un resultado técnico es correcto antes de darlo por válido.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Verificar cada conversión numérica y cada codificación de caracteres paso a paso: un solo bit incorrecto cambia por completo el dato representado.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Sistemas de numeración posicionales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El valor de un dígito depende de su </a:t>
            </a:r>
            <a:r>
              <a:rPr b="1" sz="2600">
                <a:solidFill>
                  <a:srgbClr val="000000"/>
                </a:solidFill>
                <a:latin typeface="Open Sans"/>
              </a:rPr>
              <a:t>posición</a:t>
            </a:r>
            <a:r>
              <a:rPr b="0" sz="2600">
                <a:solidFill>
                  <a:srgbClr val="000000"/>
                </a:solidFill>
                <a:latin typeface="Open Sans"/>
              </a:rPr>
              <a:t> y de la </a:t>
            </a:r>
            <a:r>
              <a:rPr b="1" sz="2600">
                <a:solidFill>
                  <a:srgbClr val="000000"/>
                </a:solidFill>
                <a:latin typeface="Open Sans"/>
              </a:rPr>
              <a:t>base</a:t>
            </a:r>
            <a:r>
              <a:rPr b="0" sz="26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Decimal</a:t>
            </a:r>
            <a:r>
              <a:rPr b="0" sz="2600">
                <a:solidFill>
                  <a:srgbClr val="000000"/>
                </a:solidFill>
                <a:latin typeface="Open Sans"/>
              </a:rPr>
              <a:t> (10), </a:t>
            </a:r>
            <a:r>
              <a:rPr b="1" sz="2600">
                <a:solidFill>
                  <a:srgbClr val="000000"/>
                </a:solidFill>
                <a:latin typeface="Open Sans"/>
              </a:rPr>
              <a:t>binario</a:t>
            </a:r>
            <a:r>
              <a:rPr b="0" sz="2600">
                <a:solidFill>
                  <a:srgbClr val="000000"/>
                </a:solidFill>
                <a:latin typeface="Open Sans"/>
              </a:rPr>
              <a:t> (2), </a:t>
            </a:r>
            <a:r>
              <a:rPr b="1" sz="2600">
                <a:solidFill>
                  <a:srgbClr val="000000"/>
                </a:solidFill>
                <a:latin typeface="Open Sans"/>
              </a:rPr>
              <a:t>octal</a:t>
            </a:r>
            <a:r>
              <a:rPr b="0" sz="2600">
                <a:solidFill>
                  <a:srgbClr val="000000"/>
                </a:solidFill>
                <a:latin typeface="Open Sans"/>
              </a:rPr>
              <a:t> (8) y </a:t>
            </a:r>
            <a:r>
              <a:rPr b="1" sz="2600">
                <a:solidFill>
                  <a:srgbClr val="000000"/>
                </a:solidFill>
                <a:latin typeface="Open Sans"/>
              </a:rPr>
              <a:t>hexadecimal</a:t>
            </a:r>
            <a:r>
              <a:rPr b="0" sz="2600">
                <a:solidFill>
                  <a:srgbClr val="000000"/>
                </a:solidFill>
                <a:latin typeface="Open Sans"/>
              </a:rPr>
              <a:t> (16).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Valor = Σ dígito × base^posición.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La computadora usa binario por ser fácil de representar con dos estados eléctricos.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Octal y hexadecimal abrevian el binario (3 y 4 bits por dígito).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500"/>
                <a:gridCol w="2162500"/>
                <a:gridCol w="2162500"/>
                <a:gridCol w="2162500"/>
              </a:tblGrid>
              <a:tr h="690000">
                <a:tc>
                  <a:txBody>
                    <a:bodyPr wrap="square"/>
                    <a:lstStyle/>
                    <a:p>
                      <a:r>
                        <a:rPr b="1" sz="2320">
                          <a:solidFill>
                            <a:srgbClr val="FFFFFF"/>
                          </a:solidFill>
                          <a:latin typeface="Open Sans"/>
                        </a:rPr>
                        <a:t>Decimal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320">
                          <a:solidFill>
                            <a:srgbClr val="FFFFFF"/>
                          </a:solidFill>
                          <a:latin typeface="Open Sans"/>
                        </a:rPr>
                        <a:t>Binario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320">
                          <a:solidFill>
                            <a:srgbClr val="FFFFFF"/>
                          </a:solidFill>
                          <a:latin typeface="Open Sans"/>
                        </a:rPr>
                        <a:t>Octal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320">
                          <a:solidFill>
                            <a:srgbClr val="FFFFFF"/>
                          </a:solidFill>
                          <a:latin typeface="Open Sans"/>
                        </a:rPr>
                        <a:t>Hexadecimal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690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0000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690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5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0101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5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5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690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10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1010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12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A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690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15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1111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17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F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690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255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11111111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377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FF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Base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cantidad de símbolos del sistema.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Divisiones sucesivas</a:t>
            </a:r>
            <a:r>
              <a:rPr b="0" sz="2600">
                <a:solidFill>
                  <a:srgbClr val="000000"/>
                </a:solidFill>
                <a:latin typeface="Open Sans"/>
              </a:rPr>
              <a:t> para convertir desde decimal.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Notación posicional</a:t>
            </a:r>
            <a:r>
              <a:rPr b="0" sz="2600">
                <a:solidFill>
                  <a:srgbClr val="000000"/>
                </a:solidFill>
                <a:latin typeface="Open Sans"/>
              </a:rPr>
              <a:t> para convertir hacia decimal.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Agrupar bits</a:t>
            </a:r>
            <a:r>
              <a:rPr b="0" sz="2600">
                <a:solidFill>
                  <a:srgbClr val="000000"/>
                </a:solidFill>
                <a:latin typeface="Open Sans"/>
              </a:rPr>
              <a:t> (3 u 4) para pasar entre binario, octal y hexadecimal.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ASCII/Unicode</a:t>
            </a:r>
            <a:r>
              <a:rPr b="0" sz="2600">
                <a:solidFill>
                  <a:srgbClr val="000000"/>
                </a:solidFill>
                <a:latin typeface="Open Sans"/>
              </a:rPr>
              <a:t> asignan un número a cada carácter.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Verificar</a:t>
            </a:r>
            <a:r>
              <a:rPr b="0" sz="2600">
                <a:solidFill>
                  <a:srgbClr val="000000"/>
                </a:solidFill>
                <a:latin typeface="Open Sans"/>
              </a:rPr>
              <a:t> reconvirtiendo el resultado.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Tanenbaum y Austin (2013). Structured Computer Organization, apéndice A (sistemas numéricos).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Mano, M. M. y Ciletti, M. D. (2017). Digital Design (6.ª ed.). Pearson.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The Unicode Consortium. Unicode Standard: https://www.unicode.org/standard/standard.html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Tabla ASCII: https://www.ascii-code.com/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Ejercicio demostrativo: Conversiones y codificación de «IPC»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20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Convertimos 45₁₀ a binario, octal y hexadecimal, verificamos regresando a decimal y codificamos palabras con ASCII.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Conversiones y ASCII verificadas en pareja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40 min  ·  Ponderación: 0 pts (formativa)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Resolver conversiones entre las cuatro bases.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Codificar palabras cortas con ASCII.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Verificar cada resultado con el compañero de equipo.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Conversiones y ASCII verificadas en pareja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40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(6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(4 min): «Cómo piensa una computadora: números y caracteres».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Calculadora de programador del sistema operativo.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Tabla ASCII: https://www.ascii-code.com/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Tarea 2: entrega 16/08.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De decimal a otra base: divisiones sucesivas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Dividir entre la base hasta que el cociente sea 0.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Los </a:t>
            </a:r>
            <a:r>
              <a:rPr b="1" sz="2400">
                <a:solidFill>
                  <a:srgbClr val="000000"/>
                </a:solidFill>
                <a:latin typeface="Open Sans"/>
              </a:rPr>
              <a:t>residuos</a:t>
            </a:r>
            <a:r>
              <a:rPr b="0" sz="2400">
                <a:solidFill>
                  <a:srgbClr val="000000"/>
                </a:solidFill>
                <a:latin typeface="Open Sans"/>
              </a:rPr>
              <a:t>, leídos de abajo hacia arriba, forman el número.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En hexadecimal, residuos 10–15 se escriben A–F.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Ejemplo: 25₁₀ = 11001₂ = 31₈ = 19₁₆.</a:t>
            </a:r>
          </a:p>
        </p:txBody>
      </p:sp>
      <p:pic>
        <p:nvPicPr>
          <p:cNvPr id="151" name="Picture 150" descr="f4_divis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000" y="5208665"/>
            <a:ext cx="11000000" cy="47283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De otra base a decimal: notación posicional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Multiplicar cada dígito por la base elevada a su posición (de derecha a izquierda desde 0).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Sumar los productos.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Ejemplo binario: 1101₂ = 1·8 + 1·4 + 0·2 + 1·1 = 13.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Ejemplo hexadecimal: 2F₁₆ = 2·16 + 15 = 47.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100000" y="1900000"/>
            <a:ext cx="8650000" cy="77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 w="12700">
            <a:solidFill>
              <a:srgbClr val="3B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250000" y="1960000"/>
            <a:ext cx="835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b="1" sz="1200">
                <a:solidFill>
                  <a:srgbClr val="F5A623"/>
                </a:solidFill>
                <a:latin typeface="Consolas"/>
              </a:rPr>
              <a:t>Notación posicional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250000" y="2360000"/>
            <a:ext cx="8350000" cy="71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1011 (base 2) a decimal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potencia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resultado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Para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longitud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Hasta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Con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Paso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-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Si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digito</a:t>
            </a:r>
            <a:r>
              <a:rPr sz="2200">
                <a:solidFill>
                  <a:srgbClr val="F8F8F2"/>
                </a:solidFill>
                <a:latin typeface="Consolas"/>
              </a:rPr>
              <a:t>[</a:t>
            </a:r>
            <a:r>
              <a:rPr sz="2200">
                <a:solidFill>
                  <a:srgbClr val="F8F8F2"/>
                </a:solidFill>
                <a:latin typeface="Consolas"/>
              </a:rPr>
              <a:t>i</a:t>
            </a:r>
            <a:r>
              <a:rPr sz="2200">
                <a:solidFill>
                  <a:srgbClr val="F8F8F2"/>
                </a:solidFill>
                <a:latin typeface="Consolas"/>
              </a:rPr>
              <a:t>]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=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1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66D9EF"/>
                </a:solidFill>
                <a:latin typeface="Consolas"/>
              </a:rPr>
              <a:t>Entonces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    </a:t>
            </a:r>
            <a:r>
              <a:rPr sz="2200">
                <a:solidFill>
                  <a:srgbClr val="F8F8F2"/>
                </a:solidFill>
                <a:latin typeface="Consolas"/>
              </a:rPr>
              <a:t>resultado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resultado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+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potencia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66D9EF"/>
                </a:solidFill>
                <a:latin typeface="Consolas"/>
              </a:rPr>
              <a:t>FinSi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F8F8F2"/>
                </a:solidFill>
                <a:latin typeface="Consolas"/>
              </a:rPr>
              <a:t>    </a:t>
            </a:r>
            <a:r>
              <a:rPr sz="2200">
                <a:solidFill>
                  <a:srgbClr val="F8F8F2"/>
                </a:solidFill>
                <a:latin typeface="Consolas"/>
              </a:rPr>
              <a:t>potencia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←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potencia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8F8F2"/>
                </a:solidFill>
                <a:latin typeface="Consolas"/>
              </a:rPr>
              <a:t>*</a:t>
            </a:r>
            <a:r>
              <a:rPr sz="2200">
                <a:solidFill>
                  <a:srgbClr val="F8F8F2"/>
                </a:solidFill>
                <a:latin typeface="Consolas"/>
              </a:rPr>
              <a:t> </a:t>
            </a:r>
            <a:r>
              <a:rPr sz="2200">
                <a:solidFill>
                  <a:srgbClr val="FD971F"/>
                </a:solidFill>
                <a:latin typeface="Consolas"/>
              </a:rPr>
              <a:t>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66D9EF"/>
                </a:solidFill>
                <a:latin typeface="Consolas"/>
              </a:rPr>
              <a:t>FinPara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200">
                <a:solidFill>
                  <a:srgbClr val="7F8C8D"/>
                </a:solidFill>
                <a:latin typeface="Consolas"/>
              </a:rPr>
              <a:t>// resultado = 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Atajos: binario ↔ octal ↔ hexadecimal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Binario → octal: agrupar de </a:t>
            </a:r>
            <a:r>
              <a:rPr b="1" sz="2600">
                <a:solidFill>
                  <a:srgbClr val="000000"/>
                </a:solidFill>
                <a:latin typeface="Open Sans"/>
              </a:rPr>
              <a:t>3 en 3</a:t>
            </a:r>
            <a:r>
              <a:rPr b="0" sz="2600">
                <a:solidFill>
                  <a:srgbClr val="000000"/>
                </a:solidFill>
                <a:latin typeface="Open Sans"/>
              </a:rPr>
              <a:t> bits desde la derecha.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Binario → hexadecimal: agrupar de </a:t>
            </a:r>
            <a:r>
              <a:rPr b="1" sz="2600">
                <a:solidFill>
                  <a:srgbClr val="000000"/>
                </a:solidFill>
                <a:latin typeface="Open Sans"/>
              </a:rPr>
              <a:t>4 en 4</a:t>
            </a:r>
            <a:r>
              <a:rPr b="0" sz="2600">
                <a:solidFill>
                  <a:srgbClr val="000000"/>
                </a:solidFill>
                <a:latin typeface="Open Sans"/>
              </a:rPr>
              <a:t> bits.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Ejemplo: 1101 0110₂ = D6₁₆.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Operaciones básicas: suma binaria con acarreo (1+1 = 10).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2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333"/>
                <a:gridCol w="2883333"/>
                <a:gridCol w="2883334"/>
              </a:tblGrid>
              <a:tr h="736000"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Binario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Agrupación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Hexadecimal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11010110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1101 | 0110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D6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101110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101 | 110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56 (octal)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1111 0000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1111 | 0000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F0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Codificación de texto: ASCII, Unicode, ISO-8859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ASCII:</a:t>
            </a:r>
            <a:r>
              <a:rPr b="0" sz="2600">
                <a:solidFill>
                  <a:srgbClr val="000000"/>
                </a:solidFill>
                <a:latin typeface="Open Sans"/>
              </a:rPr>
              <a:t> 7 bits, 128 caracteres (A = 65, a = 97).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ISO-8859-1:</a:t>
            </a:r>
            <a:r>
              <a:rPr b="0" sz="2600">
                <a:solidFill>
                  <a:srgbClr val="000000"/>
                </a:solidFill>
                <a:latin typeface="Open Sans"/>
              </a:rPr>
              <a:t> 8 bits, añade letras acentuadas (Latin-1).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Unicode:</a:t>
            </a:r>
            <a:r>
              <a:rPr b="0" sz="2600">
                <a:solidFill>
                  <a:srgbClr val="000000"/>
                </a:solidFill>
                <a:latin typeface="Open Sans"/>
              </a:rPr>
              <a:t> más de 140 000 caracteres; UTF-8 es la codificación más usada.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Una palabra se codifica carácter por carácter: «Hola» = 72 111 108 97.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356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333"/>
                <a:gridCol w="2883333"/>
                <a:gridCol w="2883334"/>
              </a:tblGrid>
              <a:tr h="713000"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Carácter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Decimal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465">
                          <a:solidFill>
                            <a:srgbClr val="FFFFFF"/>
                          </a:solidFill>
                          <a:latin typeface="Open Sans"/>
                        </a:rPr>
                        <a:t>Binario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A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65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01000001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a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97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01100001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48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00110000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espacio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32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465">
                          <a:solidFill>
                            <a:srgbClr val="1F1F1F"/>
                          </a:solidFill>
                          <a:latin typeface="Open Sans"/>
                        </a:rPr>
                        <a:t>00100000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Imágenes, audio y video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Imagen:</a:t>
            </a:r>
            <a:r>
              <a:rPr b="0" sz="3000">
                <a:solidFill>
                  <a:srgbClr val="000000"/>
                </a:solidFill>
                <a:latin typeface="Open Sans"/>
              </a:rPr>
              <a:t> matriz de píxeles; cada píxel con valores RGB (0–255).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Audio:</a:t>
            </a:r>
            <a:r>
              <a:rPr b="0" sz="3000">
                <a:solidFill>
                  <a:srgbClr val="000000"/>
                </a:solidFill>
                <a:latin typeface="Open Sans"/>
              </a:rPr>
              <a:t> muestras de la onda sonora (frecuencia de muestreo y bits por muestra).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Video:</a:t>
            </a:r>
            <a:r>
              <a:rPr b="0" sz="3000">
                <a:solidFill>
                  <a:srgbClr val="000000"/>
                </a:solidFill>
                <a:latin typeface="Open Sans"/>
              </a:rPr>
              <a:t> secuencia de imágenes por segundo + audio.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Más resolución o muestreo = mayor calidad y mayor tamaño.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