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1" r:id="rId24"/>
    <p:sldId id="272" r:id="rId25"/>
    <p:sldId id="273" r:id="rId26"/>
    <p:sldId id="274" r:id="rId27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5uyU4M8NqpuQa0XNrGDtHby9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OpenSans-bold.fntdata"/><Relationship Id="rId22" Type="http://schemas.openxmlformats.org/officeDocument/2006/relationships/font" Target="fonts/OpenSans-boldItalic.fntdata"/><Relationship Id="rId23" Type="http://customschemas.google.com/relationships/presentationmetadata" Target="metadata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Escuela de Ingeniería en Ciencias y Sistemas</a:t>
            </a: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Laboratorio 768 · Segundo Semestre 2026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330000"/>
            <a:ext cx="90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Tutor Académico: Jorge Andrés Mejía Súchite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3400">
                <a:solidFill>
                  <a:srgbClr val="000000"/>
                </a:solidFill>
                <a:latin typeface="Open Sans"/>
              </a:rPr>
              <a:t>Introducción a los Algoritmos y Flujo de Datos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900000" y="1830000"/>
            <a:ext cx="7388000" cy="125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11300000" y="2150000"/>
          <a:ext cx="6500000" cy="6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5000000"/>
              </a:tblGrid>
              <a:tr h="644000"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1F1F1F"/>
                          </a:solidFill>
                          <a:latin typeface="Open Sans"/>
                        </a:rPr>
                        <a:t>Fecha: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Semana 9 – 12/09/2026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1144000" y="2900000"/>
            <a:ext cx="160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6600">
                <a:solidFill>
                  <a:srgbClr val="000000"/>
                </a:solidFill>
                <a:latin typeface="Open Sans"/>
              </a:rPr>
              <a:t>UNIDAD 5</a:t>
            </a:r>
          </a:p>
        </p:txBody>
      </p:sp>
      <p:sp>
        <p:nvSpPr>
          <p:cNvPr id="96" name="Google Shape;96;p2"/>
          <p:cNvSpPr txBox="1"/>
          <p:nvPr/>
        </p:nvSpPr>
        <p:spPr>
          <a:xfrm>
            <a:off x="1144000" y="4650000"/>
            <a:ext cx="160000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Algoritmos con estructuras de datos</a:t>
            </a: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sz="3400">
                <a:solidFill>
                  <a:srgbClr val="000000"/>
                </a:solidFill>
                <a:latin typeface="Open Sans"/>
              </a:rPr>
              <a:t>Semana 9: Arreglos multidimensionales (matrices)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687137" y="2492771"/>
            <a:ext cx="9432094" cy="6765529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>
            <a:off x="3971429" y="612837"/>
            <a:ext cx="11301259" cy="2288505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314891" y="2901342"/>
            <a:ext cx="4961633" cy="4961633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5276524" y="317448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 txBox="1"/>
          <p:nvPr/>
        </p:nvSpPr>
        <p:spPr>
          <a:xfrm>
            <a:off x="5980000" y="4328160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Práctica 2 se califica el 12/09.</a:t>
            </a:r>
          </a:p>
        </p:txBody>
      </p:sp>
      <p:sp>
        <p:nvSpPr>
          <p:cNvPr id="107" name="Google Shape;107;p3"/>
          <p:cNvSpPr txBox="1"/>
          <p:nvPr/>
        </p:nvSpPr>
        <p:spPr>
          <a:xfrm>
            <a:off x="5980000" y="3342711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Hoy: matrices y ciclos anidados.</a:t>
            </a:r>
          </a:p>
        </p:txBody>
      </p:sp>
      <p:sp>
        <p:nvSpPr>
          <p:cNvPr id="108" name="Google Shape;108;p3"/>
          <p:cNvSpPr/>
          <p:nvPr/>
        </p:nvSpPr>
        <p:spPr>
          <a:xfrm>
            <a:off x="5276524" y="415805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5276524" y="525909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5276524" y="636014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5276524" y="746118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5980000" y="544881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Tarea 4 (goleadores y ASCII art con matrices): asignación 12/09 – entrega 20/09.</a:t>
            </a:r>
          </a:p>
        </p:txBody>
      </p:sp>
      <p:sp>
        <p:nvSpPr>
          <p:cNvPr id="113" name="Google Shape;113;p3"/>
          <p:cNvSpPr txBox="1"/>
          <p:nvPr/>
        </p:nvSpPr>
        <p:spPr>
          <a:xfrm>
            <a:off x="5980000" y="643560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El Proyecto 1 usa matrices para el ASCII art y la tabla de tipos.</a:t>
            </a:r>
          </a:p>
        </p:txBody>
      </p:sp>
      <p:sp>
        <p:nvSpPr>
          <p:cNvPr id="114" name="Google Shape;114;p3"/>
          <p:cNvSpPr txBox="1"/>
          <p:nvPr/>
        </p:nvSpPr>
        <p:spPr>
          <a:xfrm>
            <a:off x="5980000" y="755574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4875920" y="4090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5700000" y="4328160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¿Qué es una matriz?</a:t>
            </a:r>
          </a:p>
        </p:txBody>
      </p:sp>
      <p:sp>
        <p:nvSpPr>
          <p:cNvPr id="123" name="Google Shape;123;p4"/>
          <p:cNvSpPr/>
          <p:nvPr/>
        </p:nvSpPr>
        <p:spPr>
          <a:xfrm>
            <a:off x="4875920" y="514350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5700000" y="537955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Declaración e inicialización</a:t>
            </a:r>
          </a:p>
        </p:txBody>
      </p:sp>
      <p:sp>
        <p:nvSpPr>
          <p:cNvPr id="125" name="Google Shape;125;p4"/>
          <p:cNvSpPr/>
          <p:nvPr/>
        </p:nvSpPr>
        <p:spPr>
          <a:xfrm>
            <a:off x="4875920" y="619489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4875920" y="72483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4875920" y="830173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 txBox="1"/>
          <p:nvPr/>
        </p:nvSpPr>
        <p:spPr>
          <a:xfrm>
            <a:off x="5700000" y="638539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Recorrido con ciclos anidados</a:t>
            </a:r>
          </a:p>
        </p:txBody>
      </p:sp>
      <p:sp>
        <p:nvSpPr>
          <p:cNvPr id="129" name="Google Shape;129;p4"/>
          <p:cNvSpPr txBox="1"/>
          <p:nvPr/>
        </p:nvSpPr>
        <p:spPr>
          <a:xfrm>
            <a:off x="5700000" y="739123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Procesamiento: sumas, promedios, máximos</a:t>
            </a:r>
          </a:p>
        </p:txBody>
      </p:sp>
      <p:sp>
        <p:nvSpPr>
          <p:cNvPr id="130" name="Google Shape;130;p4"/>
          <p:cNvSpPr txBox="1"/>
          <p:nvPr/>
        </p:nvSpPr>
        <p:spPr>
          <a:xfrm>
            <a:off x="5700000" y="8444701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Actividad y depuración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/>
          <p:nvPr/>
        </p:nvSpPr>
        <p:spPr>
          <a:xfrm>
            <a:off x="2888408" y="2300000"/>
            <a:ext cx="12511183" cy="5600000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 txBox="1"/>
          <p:nvPr/>
        </p:nvSpPr>
        <p:spPr>
          <a:xfrm>
            <a:off x="5100000" y="2700000"/>
            <a:ext cx="10000000" cy="4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Específica:</a:t>
            </a:r>
            <a:r>
              <a:rPr b="0" sz="2200">
                <a:solidFill>
                  <a:srgbClr val="000000"/>
                </a:solidFill>
                <a:latin typeface="Open Sans"/>
              </a:rPr>
              <a:t> Implementa algoritmos que procesan cadenas, arreglos unidimensionales y arreglos multidimensionales utilizando pseudocódigo y diagramas de flujo para almacenar, consultar y modificar colecciones de datos de manera estructurada</a:t>
            </a: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Específica:</a:t>
            </a:r>
            <a:r>
              <a:rPr b="0" sz="2200">
                <a:solidFill>
                  <a:srgbClr val="000000"/>
                </a:solidFill>
                <a:latin typeface="Open Sans"/>
              </a:rPr>
              <a:t> Prueba el funcionamiento y la corrección de algoritmos mediante pruebas de escritorio, casos de prueba y ejecución para detectar errores lógicos y comprobar el cumplimiento de los resultados esperados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5616573" y="654273"/>
            <a:ext cx="7054854" cy="1553923"/>
          </a:xfrm>
          <a:custGeom>
            <a:rect b="b" l="l" r="r" t="t"/>
            <a:pathLst>
              <a:path extrusionOk="0" h="1553923" w="7054854">
                <a:moveTo>
                  <a:pt x="0" y="0"/>
                </a:moveTo>
                <a:lnTo>
                  <a:pt x="7054854" y="0"/>
                </a:lnTo>
                <a:lnTo>
                  <a:pt x="7054854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0664" r="-29526" t="0"/>
            </a:stretch>
          </a:blipFill>
          <a:ln>
            <a:noFill/>
          </a:ln>
        </p:spPr>
      </p:sp>
      <p:sp>
        <p:nvSpPr>
          <p:cNvPr id="144" name="Google Shape;144;p8"/>
          <p:cNvSpPr txBox="1"/>
          <p:nvPr/>
        </p:nvSpPr>
        <p:spPr>
          <a:xfrm>
            <a:off x="2414359" y="2700000"/>
            <a:ext cx="13459282" cy="6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Organización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Capacidad de ordenar información, procesos y recursos siguiendo una estructura lógica que facilite su comprensión y utilización.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¿Cómo lo aplicamos hoy?</a:t>
            </a:r>
            <a:r>
              <a:rPr b="0" sz="3200">
                <a:solidFill>
                  <a:srgbClr val="000000"/>
                </a:solidFill>
                <a:latin typeface="Open Sans"/>
              </a:rPr>
              <a:t> El manejo de matrices requiere identificar filas, columnas e índices; el estudiante organiza los datos antes de implementar, usa nombres descriptivos y mantiene un orden lógico en el recorrido.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Matrices: filas y columnas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4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Un </a:t>
            </a:r>
            <a:r>
              <a:rPr b="1" sz="2400">
                <a:solidFill>
                  <a:srgbClr val="000000"/>
                </a:solidFill>
                <a:latin typeface="Open Sans"/>
              </a:rPr>
              <a:t>arreglo bidimensional</a:t>
            </a:r>
            <a:r>
              <a:rPr b="0" sz="2400">
                <a:solidFill>
                  <a:srgbClr val="000000"/>
                </a:solidFill>
                <a:latin typeface="Open Sans"/>
              </a:rPr>
              <a:t> organiza datos en </a:t>
            </a:r>
            <a:r>
              <a:rPr b="1" sz="2400">
                <a:solidFill>
                  <a:srgbClr val="000000"/>
                </a:solidFill>
                <a:latin typeface="Open Sans"/>
              </a:rPr>
              <a:t>filas y columnas</a:t>
            </a:r>
            <a:r>
              <a:rPr b="0" sz="24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Se accede con dos índices: </a:t>
            </a:r>
            <a:r>
              <a:rPr b="1" sz="2400">
                <a:solidFill>
                  <a:srgbClr val="B3261E"/>
                </a:solidFill>
                <a:latin typeface="Consolas"/>
              </a:rPr>
              <a:t>m[fila, columna]</a:t>
            </a:r>
            <a:r>
              <a:rPr b="0" sz="24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Ejemplos: tableros (totito), tablas de notas, imágenes, mapas.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Todos los elementos son del mismo tipo.</a:t>
            </a:r>
          </a:p>
        </p:txBody>
      </p:sp>
      <p:pic>
        <p:nvPicPr>
          <p:cNvPr id="151" name="Picture 150" descr="f9_matr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000" y="4565907"/>
            <a:ext cx="11000000" cy="53710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3493371" y="547445"/>
            <a:ext cx="11301259" cy="1553923"/>
          </a:xfrm>
          <a:custGeom>
            <a:rect b="b" l="l" r="r" t="t"/>
            <a:pathLst>
              <a:path extrusionOk="0" h="1553923" w="11301259">
                <a:moveTo>
                  <a:pt x="0" y="0"/>
                </a:moveTo>
                <a:lnTo>
                  <a:pt x="11301258" y="0"/>
                </a:lnTo>
                <a:lnTo>
                  <a:pt x="11301258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1967873" y="2798489"/>
            <a:ext cx="14352253" cy="5956185"/>
          </a:xfrm>
          <a:custGeom>
            <a:rect b="b" l="l" r="r" t="t"/>
            <a:pathLst>
              <a:path extrusionOk="0" h="5956185" w="14352253">
                <a:moveTo>
                  <a:pt x="0" y="0"/>
                </a:moveTo>
                <a:lnTo>
                  <a:pt x="14352254" y="0"/>
                </a:lnTo>
                <a:lnTo>
                  <a:pt x="14352254" y="5956185"/>
                </a:lnTo>
                <a:lnTo>
                  <a:pt x="0" y="5956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2350000" y="3000000"/>
            <a:ext cx="13600000" cy="5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Matriz:</a:t>
            </a:r>
            <a:r>
              <a:rPr b="0" sz="2600">
                <a:solidFill>
                  <a:srgbClr val="000000"/>
                </a:solidFill>
                <a:latin typeface="Open Sans"/>
              </a:rPr>
              <a:t> datos en filas y columnas.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Dos índices:</a:t>
            </a:r>
            <a:r>
              <a:rPr b="0" sz="2600">
                <a:solidFill>
                  <a:srgbClr val="000000"/>
                </a:solidFill>
                <a:latin typeface="Open Sans"/>
              </a:rPr>
              <a:t> m[fila, columna].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Ciclos anidados</a:t>
            </a:r>
            <a:r>
              <a:rPr b="0" sz="2600">
                <a:solidFill>
                  <a:srgbClr val="000000"/>
                </a:solidFill>
                <a:latin typeface="Open Sans"/>
              </a:rPr>
              <a:t> para recorrerla.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Acumuladores</a:t>
            </a:r>
            <a:r>
              <a:rPr b="0" sz="2600">
                <a:solidFill>
                  <a:srgbClr val="000000"/>
                </a:solidFill>
                <a:latin typeface="Open Sans"/>
              </a:rPr>
              <a:t> para sumas y promedios.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Inicializar</a:t>
            </a:r>
            <a:r>
              <a:rPr b="0" sz="2600">
                <a:solidFill>
                  <a:srgbClr val="000000"/>
                </a:solidFill>
                <a:latin typeface="Open Sans"/>
              </a:rPr>
              <a:t> antes de usar.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Depurar</a:t>
            </a:r>
            <a:r>
              <a:rPr b="0" sz="2600">
                <a:solidFill>
                  <a:srgbClr val="000000"/>
                </a:solidFill>
                <a:latin typeface="Open Sans"/>
              </a:rPr>
              <a:t> con ejecución paso a paso.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2317017" y="520965"/>
            <a:ext cx="13653966" cy="1873953"/>
          </a:xfrm>
          <a:custGeom>
            <a:rect b="b" l="l" r="r" t="t"/>
            <a:pathLst>
              <a:path extrusionOk="0" h="1873953" w="13653966">
                <a:moveTo>
                  <a:pt x="0" y="0"/>
                </a:moveTo>
                <a:lnTo>
                  <a:pt x="13653966" y="0"/>
                </a:lnTo>
                <a:lnTo>
                  <a:pt x="13653966" y="1873953"/>
                </a:lnTo>
                <a:lnTo>
                  <a:pt x="0" y="187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9"/>
          <p:cNvSpPr/>
          <p:nvPr/>
        </p:nvSpPr>
        <p:spPr>
          <a:xfrm>
            <a:off x="1989089" y="2422796"/>
            <a:ext cx="14309822" cy="6206885"/>
          </a:xfrm>
          <a:custGeom>
            <a:rect b="b" l="l" r="r" t="t"/>
            <a:pathLst>
              <a:path extrusionOk="0" h="6206885" w="14309822">
                <a:moveTo>
                  <a:pt x="0" y="0"/>
                </a:moveTo>
                <a:lnTo>
                  <a:pt x="14309822" y="0"/>
                </a:lnTo>
                <a:lnTo>
                  <a:pt x="14309822" y="6206885"/>
                </a:lnTo>
                <a:lnTo>
                  <a:pt x="0" y="6206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9"/>
          <p:cNvSpPr txBox="1"/>
          <p:nvPr/>
        </p:nvSpPr>
        <p:spPr>
          <a:xfrm>
            <a:off x="2500000" y="2700000"/>
            <a:ext cx="13300000" cy="5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Joyanes Aguilar, L. (2008). Fundamentos de programación (4.ª ed.). McGraw-Hill.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Ayuda de PSeInt – Arreglos: https://pseint.sourceforge.net/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Cairó, O. (2005). Metodología de la programación. Alfaomega.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Cormen et al. (2022). Introduction to Algorithms, apéndice sobre matrices.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TextBox 173"/>
          <p:cNvSpPr txBox="1"/>
          <p:nvPr/>
        </p:nvSpPr>
        <p:spPr>
          <a:xfrm>
            <a:off x="900000" y="7450000"/>
            <a:ext cx="16500000" cy="2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b="1" sz="2800">
                <a:solidFill>
                  <a:srgbClr val="000000"/>
                </a:solidFill>
                <a:latin typeface="Open Sans"/>
              </a:rPr>
              <a:t>Ejercicio demostrativo: Tabla de multiplicar con matriz</a:t>
            </a:r>
            <a:r>
              <a:rPr b="0" sz="2800">
                <a:solidFill>
                  <a:srgbClr val="000000"/>
                </a:solidFill>
                <a:latin typeface="Open Sans"/>
              </a:rPr>
              <a:t>  ·  20 min</a:t>
            </a:r>
          </a:p>
          <a:p>
            <a:pPr algn="ctr">
              <a:spcAft>
                <a:spcPts val="800"/>
              </a:spcAft>
            </a:pPr>
            <a:r>
              <a:rPr b="0" sz="2800">
                <a:solidFill>
                  <a:srgbClr val="000000"/>
                </a:solidFill>
                <a:latin typeface="Open Sans"/>
              </a:rPr>
              <a:t>Llenamos una matriz con productos, la mostramos con ciclos anidados y calculamos sumas por fila.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TextBox 182"/>
          <p:cNvSpPr txBox="1"/>
          <p:nvPr/>
        </p:nvSpPr>
        <p:spPr>
          <a:xfrm>
            <a:off x="900000" y="6500000"/>
            <a:ext cx="16500000" cy="35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b="1" sz="2600">
                <a:solidFill>
                  <a:srgbClr val="000000"/>
                </a:solidFill>
                <a:latin typeface="Open Sans"/>
              </a:rPr>
              <a:t>Actividad: Matriz de ventas por sucursal</a:t>
            </a:r>
            <a:r>
              <a:rPr b="0" sz="2600">
                <a:solidFill>
                  <a:srgbClr val="000000"/>
                </a:solidFill>
                <a:latin typeface="Open Sans"/>
              </a:rPr>
              <a:t>  ·  40 min  ·  Ponderación: 0 pts (formativa)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Registrar ventas de 4 sucursales en 3 meses en una matriz.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Calcular totales por fila y columna.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Actividad 2: depuración de un algoritmo con errores (10 min).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2"/>
          <p:cNvSpPr txBox="1"/>
          <p:nvPr/>
        </p:nvSpPr>
        <p:spPr>
          <a:xfrm>
            <a:off x="5600000" y="1667078"/>
            <a:ext cx="4700000" cy="481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1800">
                <a:solidFill>
                  <a:srgbClr val="000000"/>
                </a:solidFill>
                <a:latin typeface="Open Sans"/>
              </a:rPr>
              <a:t>Actividad: Matriz de ventas por sucursal</a:t>
            </a:r>
          </a:p>
        </p:txBody>
      </p:sp>
      <p:sp>
        <p:nvSpPr>
          <p:cNvPr id="193" name="Google Shape;193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000">
                <a:solidFill>
                  <a:srgbClr val="000000"/>
                </a:solidFill>
                <a:latin typeface="Open Sans"/>
              </a:rPr>
              <a:t>Sí</a:t>
            </a:r>
          </a:p>
        </p:txBody>
      </p:sp>
      <p:sp>
        <p:nvSpPr>
          <p:cNvPr id="195" name="Google Shape;195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200">
                <a:solidFill>
                  <a:srgbClr val="000000"/>
                </a:solidFill>
                <a:latin typeface="Open Sans"/>
              </a:rPr>
              <a:t>40 min</a:t>
            </a: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3493371" y="-591537"/>
            <a:ext cx="11301259" cy="5113820"/>
          </a:xfrm>
          <a:custGeom>
            <a:rect b="b" l="l" r="r" t="t"/>
            <a:pathLst>
              <a:path extrusionOk="0"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3"/>
          <p:cNvSpPr/>
          <p:nvPr/>
        </p:nvSpPr>
        <p:spPr>
          <a:xfrm>
            <a:off x="2197698" y="3492869"/>
            <a:ext cx="13892604" cy="5765431"/>
          </a:xfrm>
          <a:custGeom>
            <a:rect b="b" l="l" r="r" t="t"/>
            <a:pathLst>
              <a:path extrusionOk="0" h="5765431" w="13892604">
                <a:moveTo>
                  <a:pt x="0" y="0"/>
                </a:moveTo>
                <a:lnTo>
                  <a:pt x="13892604" y="0"/>
                </a:lnTo>
                <a:lnTo>
                  <a:pt x="13892604" y="5765431"/>
                </a:lnTo>
                <a:lnTo>
                  <a:pt x="0" y="5765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3"/>
          <p:cNvSpPr txBox="1"/>
          <p:nvPr/>
        </p:nvSpPr>
        <p:spPr>
          <a:xfrm>
            <a:off x="2580394" y="3800000"/>
            <a:ext cx="13127212" cy="5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Video de la semana (6 min): canal de YouTube del curso 768 – Algoritmos.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Lectura (10 min): «Matrices: datos en tablas».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Tarea 4: entrega 20/09.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Proyecto 1: en elaboración hasta el 27/09.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Declaración, dimensiones e inicialización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B3261E"/>
                </a:solidFill>
                <a:latin typeface="Consolas"/>
              </a:rPr>
              <a:t>Dimension m[filas, columnas]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Tipos de datos: numéricos o de texto.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Inicializar con ciclos antes de usar.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Un tablero de totito: </a:t>
            </a:r>
            <a:r>
              <a:rPr b="1" sz="2600">
                <a:solidFill>
                  <a:srgbClr val="B3261E"/>
                </a:solidFill>
                <a:latin typeface="Consolas"/>
              </a:rPr>
              <a:t>Dimension t[3,3]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Declaración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Dimension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tablero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D971F"/>
                </a:solidFill>
                <a:latin typeface="Consolas"/>
              </a:rPr>
              <a:t>3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D971F"/>
                </a:solidFill>
                <a:latin typeface="Consolas"/>
              </a:rPr>
              <a:t>3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Definir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f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c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Como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Entero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inicializar con espacios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Para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f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3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Para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c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3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F8F8F2"/>
                </a:solidFill>
                <a:latin typeface="Consolas"/>
              </a:rPr>
              <a:t>tablero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8F8F2"/>
                </a:solidFill>
                <a:latin typeface="Consolas"/>
              </a:rPr>
              <a:t>f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c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tablero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D971F"/>
                </a:solidFill>
                <a:latin typeface="Consolas"/>
              </a:rPr>
              <a:t>2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D971F"/>
                </a:solidFill>
                <a:latin typeface="Consolas"/>
              </a:rPr>
              <a:t>2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"X"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Recorrido con ciclos anidados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El ciclo </a:t>
            </a:r>
            <a:r>
              <a:rPr b="1" sz="2600">
                <a:solidFill>
                  <a:srgbClr val="000000"/>
                </a:solidFill>
                <a:latin typeface="Open Sans"/>
              </a:rPr>
              <a:t>externo</a:t>
            </a:r>
            <a:r>
              <a:rPr b="0" sz="2600">
                <a:solidFill>
                  <a:srgbClr val="000000"/>
                </a:solidFill>
                <a:latin typeface="Open Sans"/>
              </a:rPr>
              <a:t> recorre filas; el </a:t>
            </a:r>
            <a:r>
              <a:rPr b="1" sz="2600">
                <a:solidFill>
                  <a:srgbClr val="000000"/>
                </a:solidFill>
                <a:latin typeface="Open Sans"/>
              </a:rPr>
              <a:t>interno</a:t>
            </a:r>
            <a:r>
              <a:rPr b="0" sz="2600">
                <a:solidFill>
                  <a:srgbClr val="000000"/>
                </a:solidFill>
                <a:latin typeface="Open Sans"/>
              </a:rPr>
              <a:t>, columnas.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Por cada fila se recorren todas las columnas.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Para N × M elementos se ejecuta N·M veces el cuerpo.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Recorrido por filas, por columnas o por diagonales.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Recorrido.psc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Proceso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Matrices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Dimension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m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D971F"/>
                </a:solidFill>
                <a:latin typeface="Consolas"/>
              </a:rPr>
              <a:t>3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D971F"/>
                </a:solidFill>
                <a:latin typeface="Consolas"/>
              </a:rPr>
              <a:t>3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Definir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j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Como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Entero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Para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3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66D9EF"/>
                </a:solidFill>
                <a:latin typeface="Consolas"/>
              </a:rPr>
              <a:t>Para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j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3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    </a:t>
            </a:r>
            <a:r>
              <a:rPr sz="2200">
                <a:solidFill>
                  <a:srgbClr val="F8F8F2"/>
                </a:solidFill>
                <a:latin typeface="Consolas"/>
              </a:rPr>
              <a:t>m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j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*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j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Para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3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66D9EF"/>
                </a:solidFill>
                <a:latin typeface="Consolas"/>
              </a:rPr>
              <a:t>Para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j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3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    </a:t>
            </a:r>
            <a:r>
              <a:rPr sz="2200">
                <a:solidFill>
                  <a:srgbClr val="66D9EF"/>
                </a:solidFill>
                <a:latin typeface="Consolas"/>
              </a:rPr>
              <a:t>Escribir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Sin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Saltar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m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j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66D9EF"/>
                </a:solidFill>
                <a:latin typeface="Consolas"/>
              </a:rPr>
              <a:t>Escribir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FinProceso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Procesamiento de matrices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Suma por fila o columna.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Promedio general.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Mayor/menor</a:t>
            </a:r>
            <a:r>
              <a:rPr b="0" sz="2600">
                <a:solidFill>
                  <a:srgbClr val="000000"/>
                </a:solidFill>
                <a:latin typeface="Open Sans"/>
              </a:rPr>
              <a:t> con su posición.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Diagonal principal:</a:t>
            </a:r>
            <a:r>
              <a:rPr b="0" sz="2600">
                <a:solidFill>
                  <a:srgbClr val="000000"/>
                </a:solidFill>
                <a:latin typeface="Open Sans"/>
              </a:rPr>
              <a:t> </a:t>
            </a:r>
            <a:r>
              <a:rPr b="1" sz="2600">
                <a:solidFill>
                  <a:srgbClr val="B3261E"/>
                </a:solidFill>
                <a:latin typeface="Consolas"/>
              </a:rPr>
              <a:t>m[i,i]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Tablas de datos: cada fila es un registro, cada columna un atributo.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Estadísticas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>
                <a:solidFill>
                  <a:srgbClr val="F8F8F2"/>
                </a:solidFill>
                <a:latin typeface="Consolas"/>
              </a:rPr>
              <a:t>suma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&lt;</a:t>
            </a:r>
            <a:r>
              <a:rPr sz="1550">
                <a:solidFill>
                  <a:srgbClr val="F8F8F2"/>
                </a:solidFill>
                <a:latin typeface="Consolas"/>
              </a:rPr>
              <a:t>-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D971F"/>
                </a:solidFill>
                <a:latin typeface="Consolas"/>
              </a:rPr>
              <a:t>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>
                <a:solidFill>
                  <a:srgbClr val="F8F8F2"/>
                </a:solidFill>
                <a:latin typeface="Consolas"/>
              </a:rPr>
              <a:t>mayor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&lt;</a:t>
            </a:r>
            <a:r>
              <a:rPr sz="1550">
                <a:solidFill>
                  <a:srgbClr val="F8F8F2"/>
                </a:solidFill>
                <a:latin typeface="Consolas"/>
              </a:rPr>
              <a:t>-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m</a:t>
            </a:r>
            <a:r>
              <a:rPr sz="1550">
                <a:solidFill>
                  <a:srgbClr val="F8F8F2"/>
                </a:solidFill>
                <a:latin typeface="Consolas"/>
              </a:rPr>
              <a:t>[</a:t>
            </a:r>
            <a:r>
              <a:rPr sz="1550">
                <a:solidFill>
                  <a:srgbClr val="FD971F"/>
                </a:solidFill>
                <a:latin typeface="Consolas"/>
              </a:rPr>
              <a:t>1</a:t>
            </a:r>
            <a:r>
              <a:rPr sz="1550">
                <a:solidFill>
                  <a:srgbClr val="F8F8F2"/>
                </a:solidFill>
                <a:latin typeface="Consolas"/>
              </a:rPr>
              <a:t>,</a:t>
            </a:r>
            <a:r>
              <a:rPr sz="1550">
                <a:solidFill>
                  <a:srgbClr val="FD971F"/>
                </a:solidFill>
                <a:latin typeface="Consolas"/>
              </a:rPr>
              <a:t>1</a:t>
            </a:r>
            <a:r>
              <a:rPr sz="1550">
                <a:solidFill>
                  <a:srgbClr val="F8F8F2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>
                <a:solidFill>
                  <a:srgbClr val="66D9EF"/>
                </a:solidFill>
                <a:latin typeface="Consolas"/>
              </a:rPr>
              <a:t>Para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i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&lt;</a:t>
            </a:r>
            <a:r>
              <a:rPr sz="1550">
                <a:solidFill>
                  <a:srgbClr val="F8F8F2"/>
                </a:solidFill>
                <a:latin typeface="Consolas"/>
              </a:rPr>
              <a:t>-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D971F"/>
                </a:solidFill>
                <a:latin typeface="Consolas"/>
              </a:rPr>
              <a:t>1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66D9EF"/>
                </a:solidFill>
                <a:latin typeface="Consolas"/>
              </a:rPr>
              <a:t>Hasta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D971F"/>
                </a:solidFill>
                <a:latin typeface="Consolas"/>
              </a:rPr>
              <a:t>3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>
                <a:solidFill>
                  <a:srgbClr val="F8F8F2"/>
                </a:solidFill>
                <a:latin typeface="Consolas"/>
              </a:rPr>
              <a:t>    </a:t>
            </a:r>
            <a:r>
              <a:rPr sz="1550">
                <a:solidFill>
                  <a:srgbClr val="66D9EF"/>
                </a:solidFill>
                <a:latin typeface="Consolas"/>
              </a:rPr>
              <a:t>Para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j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&lt;</a:t>
            </a:r>
            <a:r>
              <a:rPr sz="1550">
                <a:solidFill>
                  <a:srgbClr val="F8F8F2"/>
                </a:solidFill>
                <a:latin typeface="Consolas"/>
              </a:rPr>
              <a:t>-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D971F"/>
                </a:solidFill>
                <a:latin typeface="Consolas"/>
              </a:rPr>
              <a:t>1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66D9EF"/>
                </a:solidFill>
                <a:latin typeface="Consolas"/>
              </a:rPr>
              <a:t>Hasta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D971F"/>
                </a:solidFill>
                <a:latin typeface="Consolas"/>
              </a:rPr>
              <a:t>3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>
                <a:solidFill>
                  <a:srgbClr val="F8F8F2"/>
                </a:solidFill>
                <a:latin typeface="Consolas"/>
              </a:rPr>
              <a:t>        </a:t>
            </a:r>
            <a:r>
              <a:rPr sz="1550">
                <a:solidFill>
                  <a:srgbClr val="F8F8F2"/>
                </a:solidFill>
                <a:latin typeface="Consolas"/>
              </a:rPr>
              <a:t>suma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&lt;</a:t>
            </a:r>
            <a:r>
              <a:rPr sz="1550">
                <a:solidFill>
                  <a:srgbClr val="F8F8F2"/>
                </a:solidFill>
                <a:latin typeface="Consolas"/>
              </a:rPr>
              <a:t>-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suma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+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m</a:t>
            </a:r>
            <a:r>
              <a:rPr sz="1550">
                <a:solidFill>
                  <a:srgbClr val="F8F8F2"/>
                </a:solidFill>
                <a:latin typeface="Consolas"/>
              </a:rPr>
              <a:t>[</a:t>
            </a:r>
            <a:r>
              <a:rPr sz="1550">
                <a:solidFill>
                  <a:srgbClr val="F8F8F2"/>
                </a:solidFill>
                <a:latin typeface="Consolas"/>
              </a:rPr>
              <a:t>i</a:t>
            </a:r>
            <a:r>
              <a:rPr sz="1550">
                <a:solidFill>
                  <a:srgbClr val="F8F8F2"/>
                </a:solidFill>
                <a:latin typeface="Consolas"/>
              </a:rPr>
              <a:t>,</a:t>
            </a:r>
            <a:r>
              <a:rPr sz="1550">
                <a:solidFill>
                  <a:srgbClr val="F8F8F2"/>
                </a:solidFill>
                <a:latin typeface="Consolas"/>
              </a:rPr>
              <a:t>j</a:t>
            </a:r>
            <a:r>
              <a:rPr sz="1550">
                <a:solidFill>
                  <a:srgbClr val="F8F8F2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>
                <a:solidFill>
                  <a:srgbClr val="F8F8F2"/>
                </a:solidFill>
                <a:latin typeface="Consolas"/>
              </a:rPr>
              <a:t>        </a:t>
            </a:r>
            <a:r>
              <a:rPr sz="1550">
                <a:solidFill>
                  <a:srgbClr val="66D9EF"/>
                </a:solidFill>
                <a:latin typeface="Consolas"/>
              </a:rPr>
              <a:t>Si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m</a:t>
            </a:r>
            <a:r>
              <a:rPr sz="1550">
                <a:solidFill>
                  <a:srgbClr val="F8F8F2"/>
                </a:solidFill>
                <a:latin typeface="Consolas"/>
              </a:rPr>
              <a:t>[</a:t>
            </a:r>
            <a:r>
              <a:rPr sz="1550">
                <a:solidFill>
                  <a:srgbClr val="F8F8F2"/>
                </a:solidFill>
                <a:latin typeface="Consolas"/>
              </a:rPr>
              <a:t>i</a:t>
            </a:r>
            <a:r>
              <a:rPr sz="1550">
                <a:solidFill>
                  <a:srgbClr val="F8F8F2"/>
                </a:solidFill>
                <a:latin typeface="Consolas"/>
              </a:rPr>
              <a:t>,</a:t>
            </a:r>
            <a:r>
              <a:rPr sz="1550">
                <a:solidFill>
                  <a:srgbClr val="F8F8F2"/>
                </a:solidFill>
                <a:latin typeface="Consolas"/>
              </a:rPr>
              <a:t>j</a:t>
            </a:r>
            <a:r>
              <a:rPr sz="1550">
                <a:solidFill>
                  <a:srgbClr val="F8F8F2"/>
                </a:solidFill>
                <a:latin typeface="Consolas"/>
              </a:rPr>
              <a:t>]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&gt;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mayor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66D9EF"/>
                </a:solidFill>
                <a:latin typeface="Consolas"/>
              </a:rPr>
              <a:t>Entonces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>
                <a:solidFill>
                  <a:srgbClr val="F8F8F2"/>
                </a:solidFill>
                <a:latin typeface="Consolas"/>
              </a:rPr>
              <a:t>            </a:t>
            </a:r>
            <a:r>
              <a:rPr sz="1550">
                <a:solidFill>
                  <a:srgbClr val="F8F8F2"/>
                </a:solidFill>
                <a:latin typeface="Consolas"/>
              </a:rPr>
              <a:t>mayor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&lt;</a:t>
            </a:r>
            <a:r>
              <a:rPr sz="1550">
                <a:solidFill>
                  <a:srgbClr val="F8F8F2"/>
                </a:solidFill>
                <a:latin typeface="Consolas"/>
              </a:rPr>
              <a:t>-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m</a:t>
            </a:r>
            <a:r>
              <a:rPr sz="1550">
                <a:solidFill>
                  <a:srgbClr val="F8F8F2"/>
                </a:solidFill>
                <a:latin typeface="Consolas"/>
              </a:rPr>
              <a:t>[</a:t>
            </a:r>
            <a:r>
              <a:rPr sz="1550">
                <a:solidFill>
                  <a:srgbClr val="F8F8F2"/>
                </a:solidFill>
                <a:latin typeface="Consolas"/>
              </a:rPr>
              <a:t>i</a:t>
            </a:r>
            <a:r>
              <a:rPr sz="1550">
                <a:solidFill>
                  <a:srgbClr val="F8F8F2"/>
                </a:solidFill>
                <a:latin typeface="Consolas"/>
              </a:rPr>
              <a:t>,</a:t>
            </a:r>
            <a:r>
              <a:rPr sz="1550">
                <a:solidFill>
                  <a:srgbClr val="F8F8F2"/>
                </a:solidFill>
                <a:latin typeface="Consolas"/>
              </a:rPr>
              <a:t>j</a:t>
            </a:r>
            <a:r>
              <a:rPr sz="1550">
                <a:solidFill>
                  <a:srgbClr val="F8F8F2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>
                <a:solidFill>
                  <a:srgbClr val="F8F8F2"/>
                </a:solidFill>
                <a:latin typeface="Consolas"/>
              </a:rPr>
              <a:t>            </a:t>
            </a:r>
            <a:r>
              <a:rPr sz="1550">
                <a:solidFill>
                  <a:srgbClr val="F8F8F2"/>
                </a:solidFill>
                <a:latin typeface="Consolas"/>
              </a:rPr>
              <a:t>fm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&lt;</a:t>
            </a:r>
            <a:r>
              <a:rPr sz="1550">
                <a:solidFill>
                  <a:srgbClr val="F8F8F2"/>
                </a:solidFill>
                <a:latin typeface="Consolas"/>
              </a:rPr>
              <a:t>-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>
                <a:solidFill>
                  <a:srgbClr val="F8F8F2"/>
                </a:solidFill>
                <a:latin typeface="Consolas"/>
              </a:rPr>
              <a:t>            </a:t>
            </a:r>
            <a:r>
              <a:rPr sz="1550">
                <a:solidFill>
                  <a:srgbClr val="F8F8F2"/>
                </a:solidFill>
                <a:latin typeface="Consolas"/>
              </a:rPr>
              <a:t>cm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&lt;</a:t>
            </a:r>
            <a:r>
              <a:rPr sz="1550">
                <a:solidFill>
                  <a:srgbClr val="F8F8F2"/>
                </a:solidFill>
                <a:latin typeface="Consolas"/>
              </a:rPr>
              <a:t>-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j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>
                <a:solidFill>
                  <a:srgbClr val="F8F8F2"/>
                </a:solidFill>
                <a:latin typeface="Consolas"/>
              </a:rPr>
              <a:t>        </a:t>
            </a:r>
            <a:r>
              <a:rPr sz="1550">
                <a:solidFill>
                  <a:srgbClr val="66D9EF"/>
                </a:solidFill>
                <a:latin typeface="Consolas"/>
              </a:rPr>
              <a:t>FinSi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>
                <a:solidFill>
                  <a:srgbClr val="F8F8F2"/>
                </a:solidFill>
                <a:latin typeface="Consolas"/>
              </a:rPr>
              <a:t>    </a:t>
            </a:r>
            <a:r>
              <a:rPr sz="155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>
                <a:solidFill>
                  <a:srgbClr val="66D9EF"/>
                </a:solidFill>
                <a:latin typeface="Consolas"/>
              </a:rPr>
              <a:t>Escribir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A6E22E"/>
                </a:solidFill>
                <a:latin typeface="Consolas"/>
              </a:rPr>
              <a:t>"Suma: "</a:t>
            </a:r>
            <a:r>
              <a:rPr sz="1550">
                <a:solidFill>
                  <a:srgbClr val="F8F8F2"/>
                </a:solidFill>
                <a:latin typeface="Consolas"/>
              </a:rPr>
              <a:t>,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suma</a:t>
            </a:r>
            <a:r>
              <a:rPr sz="1550">
                <a:solidFill>
                  <a:srgbClr val="F8F8F2"/>
                </a:solidFill>
                <a:latin typeface="Consolas"/>
              </a:rPr>
              <a:t>,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A6E22E"/>
                </a:solidFill>
                <a:latin typeface="Consolas"/>
              </a:rPr>
              <a:t>" Mayor: "</a:t>
            </a:r>
            <a:r>
              <a:rPr sz="1550">
                <a:solidFill>
                  <a:srgbClr val="F8F8F2"/>
                </a:solidFill>
                <a:latin typeface="Consolas"/>
              </a:rPr>
              <a:t>,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mayor</a:t>
            </a:r>
            <a:r>
              <a:rPr sz="1550">
                <a:solidFill>
                  <a:srgbClr val="F8F8F2"/>
                </a:solidFill>
                <a:latin typeface="Consolas"/>
              </a:rPr>
              <a:t>,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A6E22E"/>
                </a:solidFill>
                <a:latin typeface="Consolas"/>
              </a:rPr>
              <a:t>" en ["</a:t>
            </a:r>
            <a:r>
              <a:rPr sz="1550">
                <a:solidFill>
                  <a:srgbClr val="F8F8F2"/>
                </a:solidFill>
                <a:latin typeface="Consolas"/>
              </a:rPr>
              <a:t>,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fm</a:t>
            </a:r>
            <a:r>
              <a:rPr sz="1550">
                <a:solidFill>
                  <a:srgbClr val="F8F8F2"/>
                </a:solidFill>
                <a:latin typeface="Consolas"/>
              </a:rPr>
              <a:t>,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A6E22E"/>
                </a:solidFill>
                <a:latin typeface="Consolas"/>
              </a:rPr>
              <a:t>","</a:t>
            </a:r>
            <a:r>
              <a:rPr sz="1550">
                <a:solidFill>
                  <a:srgbClr val="F8F8F2"/>
                </a:solidFill>
                <a:latin typeface="Consolas"/>
              </a:rPr>
              <a:t>,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F8F8F2"/>
                </a:solidFill>
                <a:latin typeface="Consolas"/>
              </a:rPr>
              <a:t>cm</a:t>
            </a:r>
            <a:r>
              <a:rPr sz="1550">
                <a:solidFill>
                  <a:srgbClr val="F8F8F2"/>
                </a:solidFill>
                <a:latin typeface="Consolas"/>
              </a:rPr>
              <a:t>,</a:t>
            </a:r>
            <a:r>
              <a:rPr sz="1550">
                <a:solidFill>
                  <a:srgbClr val="F8F8F2"/>
                </a:solidFill>
                <a:latin typeface="Consolas"/>
              </a:rPr>
              <a:t> </a:t>
            </a:r>
            <a:r>
              <a:rPr sz="1550">
                <a:solidFill>
                  <a:srgbClr val="A6E22E"/>
                </a:solidFill>
                <a:latin typeface="Consolas"/>
              </a:rPr>
              <a:t>"]"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Prueba y depuración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Ejecutar paso a paso y observar variables.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Errores frecuentes: invertir filas y columnas, límites del ciclo, no inicializar.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Identificar al menos tres errores, explicar su causa y corregirlos.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Usar la prueba de escritorio para seguir los índices.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