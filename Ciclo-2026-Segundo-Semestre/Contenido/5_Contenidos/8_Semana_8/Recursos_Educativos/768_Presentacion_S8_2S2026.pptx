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1" r:id="rId24"/>
    <p:sldId id="272" r:id="rId25"/>
    <p:sldId id="273" r:id="rId26"/>
    <p:sldId id="274" r:id="rId27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3" Type="http://customschemas.google.com/relationships/presentationmetadata" Target="meta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Escuela de Ingeniería en Ciencias y Sistemas</a:t>
            </a: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Laboratorio 768 · Segundo Semestre 2026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33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Tutor Académico: Jorge Andrés Mejía Súchite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3400">
                <a:solidFill>
                  <a:srgbClr val="000000"/>
                </a:solidFill>
                <a:latin typeface="Open Sans"/>
              </a:rPr>
              <a:t>Introducción a los Algoritmos y Flujo de Datos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00000" y="1830000"/>
            <a:ext cx="7388000" cy="125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1300000" y="2150000"/>
          <a:ext cx="6500000" cy="6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5000000"/>
              </a:tblGrid>
              <a:tr h="644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1F1F1F"/>
                          </a:solidFill>
                          <a:latin typeface="Open Sans"/>
                        </a:rPr>
                        <a:t>Fecha: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 8 – 05/09/2026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144000" y="2900000"/>
            <a:ext cx="160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6600">
                <a:solidFill>
                  <a:srgbClr val="000000"/>
                </a:solidFill>
                <a:latin typeface="Open Sans"/>
              </a:rPr>
              <a:t>UNIDAD 5</a:t>
            </a:r>
          </a:p>
        </p:txBody>
      </p:sp>
      <p:sp>
        <p:nvSpPr>
          <p:cNvPr id="96" name="Google Shape;96;p2"/>
          <p:cNvSpPr txBox="1"/>
          <p:nvPr/>
        </p:nvSpPr>
        <p:spPr>
          <a:xfrm>
            <a:off x="1144000" y="4650000"/>
            <a:ext cx="1600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Algoritmos con estructuras de datos</a:t>
            </a: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sz="3400">
                <a:solidFill>
                  <a:srgbClr val="000000"/>
                </a:solidFill>
                <a:latin typeface="Open Sans"/>
              </a:rPr>
              <a:t>Semana 8: Cadenas y arreglos unidimensionales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5980000" y="4328160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Práctica 2 entrega 11/09; calificación 12/09.</a:t>
            </a:r>
          </a:p>
        </p:txBody>
      </p:sp>
      <p:sp>
        <p:nvSpPr>
          <p:cNvPr id="107" name="Google Shape;107;p3"/>
          <p:cNvSpPr txBox="1"/>
          <p:nvPr/>
        </p:nvSpPr>
        <p:spPr>
          <a:xfrm>
            <a:off x="5980000" y="3342711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Hoy: cadenas y arreglos unidimensionales en PSeInt.</a:t>
            </a:r>
          </a:p>
        </p:txBody>
      </p:sp>
      <p:sp>
        <p:nvSpPr>
          <p:cNvPr id="108" name="Google Shape;108;p3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5980000" y="544881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Proyecto 1 se asigna el 05/09 (PokeArena).</a:t>
            </a:r>
          </a:p>
        </p:txBody>
      </p:sp>
      <p:sp>
        <p:nvSpPr>
          <p:cNvPr id="113" name="Google Shape;113;p3"/>
          <p:cNvSpPr txBox="1"/>
          <p:nvPr/>
        </p:nvSpPr>
        <p:spPr>
          <a:xfrm>
            <a:off x="5980000" y="643560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Lleven un caso de prueba pensado antes de programar.</a:t>
            </a:r>
          </a:p>
        </p:txBody>
      </p:sp>
      <p:sp>
        <p:nvSpPr>
          <p:cNvPr id="114" name="Google Shape;114;p3"/>
          <p:cNvSpPr txBox="1"/>
          <p:nvPr/>
        </p:nvSpPr>
        <p:spPr>
          <a:xfrm>
            <a:off x="5980000" y="755574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5700000" y="4328160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Manipulación de cadenas</a:t>
            </a:r>
          </a:p>
        </p:txBody>
      </p:sp>
      <p:sp>
        <p:nvSpPr>
          <p:cNvPr id="123" name="Google Shape;123;p4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5700000" y="537955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Arreglos unidimensionales: definición y declaración</a:t>
            </a:r>
          </a:p>
        </p:txBody>
      </p:sp>
      <p:sp>
        <p:nvSpPr>
          <p:cNvPr id="125" name="Google Shape;125;p4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5700000" y="638539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Almacenamiento y lectura de elementos</a:t>
            </a:r>
          </a:p>
        </p:txBody>
      </p:sp>
      <p:sp>
        <p:nvSpPr>
          <p:cNvPr id="129" name="Google Shape;129;p4"/>
          <p:cNvSpPr txBox="1"/>
          <p:nvPr/>
        </p:nvSpPr>
        <p:spPr>
          <a:xfrm>
            <a:off x="5700000" y="739123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Recorridos, búsquedas y actualización</a:t>
            </a:r>
          </a:p>
        </p:txBody>
      </p:sp>
      <p:sp>
        <p:nvSpPr>
          <p:cNvPr id="130" name="Google Shape;130;p4"/>
          <p:cNvSpPr txBox="1"/>
          <p:nvPr/>
        </p:nvSpPr>
        <p:spPr>
          <a:xfrm>
            <a:off x="5700000" y="8444701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 y casos de prueba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>
            <a:off x="2888408" y="2581776"/>
            <a:ext cx="12511183" cy="3424936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5100000" y="2850000"/>
            <a:ext cx="10000000" cy="2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8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800">
                <a:solidFill>
                  <a:srgbClr val="000000"/>
                </a:solidFill>
                <a:latin typeface="Open Sans"/>
              </a:rPr>
              <a:t> Implementa algoritmos que procesan cadenas, arreglos unidimensionales y arreglos multidimensionales utilizando pseudocódigo y diagramas de flujo para almacenar, consultar y modificar colecciones de datos de manera estructurada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5616573" y="654273"/>
            <a:ext cx="7054854" cy="1553923"/>
          </a:xfrm>
          <a:custGeom>
            <a:rect b="b" l="l" r="r" t="t"/>
            <a:pathLst>
              <a:path extrusionOk="0" h="1553923" w="7054854">
                <a:moveTo>
                  <a:pt x="0" y="0"/>
                </a:moveTo>
                <a:lnTo>
                  <a:pt x="7054854" y="0"/>
                </a:lnTo>
                <a:lnTo>
                  <a:pt x="7054854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0664" r="-29526" t="0"/>
            </a:stretch>
          </a:blipFill>
          <a:ln>
            <a:noFill/>
          </a:ln>
        </p:spPr>
      </p:sp>
      <p:sp>
        <p:nvSpPr>
          <p:cNvPr id="144" name="Google Shape;144;p8"/>
          <p:cNvSpPr txBox="1"/>
          <p:nvPr/>
        </p:nvSpPr>
        <p:spPr>
          <a:xfrm>
            <a:off x="2414359" y="2700000"/>
            <a:ext cx="13459282" cy="6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Constancia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Capacidad de mantener un esfuerzo continuo y ordenado durante el diseño, ejecución y corrección de algoritmos.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¿Cómo lo aplicamos hoy?</a:t>
            </a:r>
            <a:r>
              <a:rPr b="0" sz="3200">
                <a:solidFill>
                  <a:srgbClr val="000000"/>
                </a:solidFill>
                <a:latin typeface="Open Sans"/>
              </a:rPr>
              <a:t> Escribir instrucciones, palabras reservadas y estructuras correctas exige disciplina; el estudiante revisa su pseudocódigo contra una lista de verificación antes de entregarlo.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Manipulación de cadenas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Una </a:t>
            </a:r>
            <a:r>
              <a:rPr b="1" sz="2600">
                <a:solidFill>
                  <a:srgbClr val="000000"/>
                </a:solidFill>
                <a:latin typeface="Open Sans"/>
              </a:rPr>
              <a:t>cadena</a:t>
            </a:r>
            <a:r>
              <a:rPr b="0" sz="2600">
                <a:solidFill>
                  <a:srgbClr val="000000"/>
                </a:solidFill>
                <a:latin typeface="Open Sans"/>
              </a:rPr>
              <a:t> es una secuencia de caracteres.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B3261E"/>
                </a:solidFill>
                <a:latin typeface="Consolas"/>
              </a:rPr>
              <a:t>Longitud(c)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B3261E"/>
                </a:solidFill>
                <a:latin typeface="Consolas"/>
              </a:rPr>
              <a:t>Concatenar(a, b)</a:t>
            </a:r>
            <a:r>
              <a:rPr b="0" sz="2600">
                <a:solidFill>
                  <a:srgbClr val="000000"/>
                </a:solidFill>
                <a:latin typeface="Open Sans"/>
              </a:rPr>
              <a:t> o </a:t>
            </a:r>
            <a:r>
              <a:rPr b="1" sz="2600">
                <a:solidFill>
                  <a:srgbClr val="B3261E"/>
                </a:solidFill>
                <a:latin typeface="Consolas"/>
              </a:rPr>
              <a:t>a + b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B3261E"/>
                </a:solidFill>
                <a:latin typeface="Consolas"/>
              </a:rPr>
              <a:t>Subcadena(c, inicio, fin)</a:t>
            </a:r>
            <a:r>
              <a:rPr b="0" sz="2600">
                <a:solidFill>
                  <a:srgbClr val="000000"/>
                </a:solidFill>
                <a:latin typeface="Open Sans"/>
              </a:rPr>
              <a:t>: extrae una parte (índices desde 0).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B3261E"/>
                </a:solidFill>
                <a:latin typeface="Consolas"/>
              </a:rPr>
              <a:t>Mayusculas(c)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B3261E"/>
                </a:solidFill>
                <a:latin typeface="Consolas"/>
              </a:rPr>
              <a:t>Minusculas(c)</a:t>
            </a:r>
            <a:r>
              <a:rPr b="0" sz="2600">
                <a:solidFill>
                  <a:srgbClr val="000000"/>
                </a:solidFill>
                <a:latin typeface="Open Sans"/>
              </a:rPr>
              <a:t>, comparación con </a:t>
            </a:r>
            <a:r>
              <a:rPr b="1" sz="2600">
                <a:solidFill>
                  <a:srgbClr val="B3261E"/>
                </a:solidFill>
                <a:latin typeface="Consolas"/>
              </a:rPr>
              <a:t>=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Recorrer los caracteres con </a:t>
            </a:r>
            <a:r>
              <a:rPr b="1" sz="2600">
                <a:solidFill>
                  <a:srgbClr val="B3261E"/>
                </a:solidFill>
                <a:latin typeface="Consolas"/>
              </a:rPr>
              <a:t>Para i &lt;- 0 Hasta Longitud(c)-1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Cadenas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66D9EF"/>
                </a:solidFill>
                <a:latin typeface="Consolas"/>
              </a:rPr>
              <a:t>Definir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texto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66D9EF"/>
                </a:solidFill>
                <a:latin typeface="Consolas"/>
              </a:rPr>
              <a:t>Como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66D9EF"/>
                </a:solidFill>
                <a:latin typeface="Consolas"/>
              </a:rPr>
              <a:t>Cadena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F8F8F2"/>
                </a:solidFill>
                <a:latin typeface="Consolas"/>
              </a:rPr>
              <a:t>texto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&lt;</a:t>
            </a:r>
            <a:r>
              <a:rPr sz="2150">
                <a:solidFill>
                  <a:srgbClr val="F8F8F2"/>
                </a:solidFill>
                <a:latin typeface="Consolas"/>
              </a:rPr>
              <a:t>-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A6E22E"/>
                </a:solidFill>
                <a:latin typeface="Consolas"/>
              </a:rPr>
              <a:t>"Algoritmos"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66D9EF"/>
                </a:solidFill>
                <a:latin typeface="Consolas"/>
              </a:rPr>
              <a:t>Escribir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5C26B"/>
                </a:solidFill>
                <a:latin typeface="Consolas"/>
              </a:rPr>
              <a:t>Longitud</a:t>
            </a:r>
            <a:r>
              <a:rPr sz="2150">
                <a:solidFill>
                  <a:srgbClr val="F8F8F2"/>
                </a:solidFill>
                <a:latin typeface="Consolas"/>
              </a:rPr>
              <a:t>(</a:t>
            </a:r>
            <a:r>
              <a:rPr sz="2150">
                <a:solidFill>
                  <a:srgbClr val="F8F8F2"/>
                </a:solidFill>
                <a:latin typeface="Consolas"/>
              </a:rPr>
              <a:t>texto</a:t>
            </a:r>
            <a:r>
              <a:rPr sz="2150">
                <a:solidFill>
                  <a:srgbClr val="F8F8F2"/>
                </a:solidFill>
                <a:latin typeface="Consolas"/>
              </a:rPr>
              <a:t>)</a:t>
            </a:r>
            <a:r>
              <a:rPr sz="2150">
                <a:solidFill>
                  <a:srgbClr val="F8F8F2"/>
                </a:solidFill>
                <a:latin typeface="Consolas"/>
              </a:rPr>
              <a:t>            </a:t>
            </a:r>
            <a:r>
              <a:rPr sz="2150">
                <a:solidFill>
                  <a:srgbClr val="7F8C8D"/>
                </a:solidFill>
                <a:latin typeface="Consolas"/>
              </a:rPr>
              <a:t>// 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66D9EF"/>
                </a:solidFill>
                <a:latin typeface="Consolas"/>
              </a:rPr>
              <a:t>Escribir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5C26B"/>
                </a:solidFill>
                <a:latin typeface="Consolas"/>
              </a:rPr>
              <a:t>Subcadena</a:t>
            </a:r>
            <a:r>
              <a:rPr sz="2150">
                <a:solidFill>
                  <a:srgbClr val="F8F8F2"/>
                </a:solidFill>
                <a:latin typeface="Consolas"/>
              </a:rPr>
              <a:t>(</a:t>
            </a:r>
            <a:r>
              <a:rPr sz="2150">
                <a:solidFill>
                  <a:srgbClr val="F8F8F2"/>
                </a:solidFill>
                <a:latin typeface="Consolas"/>
              </a:rPr>
              <a:t>texto</a:t>
            </a:r>
            <a:r>
              <a:rPr sz="2150">
                <a:solidFill>
                  <a:srgbClr val="F8F8F2"/>
                </a:solidFill>
                <a:latin typeface="Consolas"/>
              </a:rPr>
              <a:t>,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D971F"/>
                </a:solidFill>
                <a:latin typeface="Consolas"/>
              </a:rPr>
              <a:t>0</a:t>
            </a:r>
            <a:r>
              <a:rPr sz="2150">
                <a:solidFill>
                  <a:srgbClr val="F8F8F2"/>
                </a:solidFill>
                <a:latin typeface="Consolas"/>
              </a:rPr>
              <a:t>,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D971F"/>
                </a:solidFill>
                <a:latin typeface="Consolas"/>
              </a:rPr>
              <a:t>2</a:t>
            </a:r>
            <a:r>
              <a:rPr sz="2150">
                <a:solidFill>
                  <a:srgbClr val="F8F8F2"/>
                </a:solidFill>
                <a:latin typeface="Consolas"/>
              </a:rPr>
              <a:t>)</a:t>
            </a:r>
            <a:r>
              <a:rPr sz="2150">
                <a:solidFill>
                  <a:srgbClr val="F8F8F2"/>
                </a:solidFill>
                <a:latin typeface="Consolas"/>
              </a:rPr>
              <a:t>     </a:t>
            </a:r>
            <a:r>
              <a:rPr sz="2150">
                <a:solidFill>
                  <a:srgbClr val="7F8C8D"/>
                </a:solidFill>
                <a:latin typeface="Consolas"/>
              </a:rPr>
              <a:t>// Alg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66D9EF"/>
                </a:solidFill>
                <a:latin typeface="Consolas"/>
              </a:rPr>
              <a:t>Escribir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5C26B"/>
                </a:solidFill>
                <a:latin typeface="Consolas"/>
              </a:rPr>
              <a:t>Mayusculas</a:t>
            </a:r>
            <a:r>
              <a:rPr sz="2150">
                <a:solidFill>
                  <a:srgbClr val="F8F8F2"/>
                </a:solidFill>
                <a:latin typeface="Consolas"/>
              </a:rPr>
              <a:t>(</a:t>
            </a:r>
            <a:r>
              <a:rPr sz="2150">
                <a:solidFill>
                  <a:srgbClr val="F8F8F2"/>
                </a:solidFill>
                <a:latin typeface="Consolas"/>
              </a:rPr>
              <a:t>texto</a:t>
            </a:r>
            <a:r>
              <a:rPr sz="2150">
                <a:solidFill>
                  <a:srgbClr val="F8F8F2"/>
                </a:solidFill>
                <a:latin typeface="Consolas"/>
              </a:rPr>
              <a:t>)</a:t>
            </a:r>
            <a:r>
              <a:rPr sz="2150">
                <a:solidFill>
                  <a:srgbClr val="F8F8F2"/>
                </a:solidFill>
                <a:latin typeface="Consolas"/>
              </a:rPr>
              <a:t>          </a:t>
            </a:r>
            <a:r>
              <a:rPr sz="2150">
                <a:solidFill>
                  <a:srgbClr val="7F8C8D"/>
                </a:solidFill>
                <a:latin typeface="Consolas"/>
              </a:rPr>
              <a:t>// ALGORITMOS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F8F8F2"/>
                </a:solidFill>
                <a:latin typeface="Consolas"/>
              </a:rPr>
              <a:t>cont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&lt;</a:t>
            </a:r>
            <a:r>
              <a:rPr sz="2150">
                <a:solidFill>
                  <a:srgbClr val="F8F8F2"/>
                </a:solidFill>
                <a:latin typeface="Consolas"/>
              </a:rPr>
              <a:t>-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D971F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66D9EF"/>
                </a:solidFill>
                <a:latin typeface="Consolas"/>
              </a:rPr>
              <a:t>Para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i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&lt;</a:t>
            </a:r>
            <a:r>
              <a:rPr sz="2150">
                <a:solidFill>
                  <a:srgbClr val="F8F8F2"/>
                </a:solidFill>
                <a:latin typeface="Consolas"/>
              </a:rPr>
              <a:t>-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D971F"/>
                </a:solidFill>
                <a:latin typeface="Consolas"/>
              </a:rPr>
              <a:t>0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66D9EF"/>
                </a:solidFill>
                <a:latin typeface="Consolas"/>
              </a:rPr>
              <a:t>Hasta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5C26B"/>
                </a:solidFill>
                <a:latin typeface="Consolas"/>
              </a:rPr>
              <a:t>Longitud</a:t>
            </a:r>
            <a:r>
              <a:rPr sz="2150">
                <a:solidFill>
                  <a:srgbClr val="F8F8F2"/>
                </a:solidFill>
                <a:latin typeface="Consolas"/>
              </a:rPr>
              <a:t>(</a:t>
            </a:r>
            <a:r>
              <a:rPr sz="2150">
                <a:solidFill>
                  <a:srgbClr val="F8F8F2"/>
                </a:solidFill>
                <a:latin typeface="Consolas"/>
              </a:rPr>
              <a:t>texto</a:t>
            </a:r>
            <a:r>
              <a:rPr sz="2150">
                <a:solidFill>
                  <a:srgbClr val="F8F8F2"/>
                </a:solidFill>
                <a:latin typeface="Consolas"/>
              </a:rPr>
              <a:t>)</a:t>
            </a:r>
            <a:r>
              <a:rPr sz="2150">
                <a:solidFill>
                  <a:srgbClr val="F8F8F2"/>
                </a:solidFill>
                <a:latin typeface="Consolas"/>
              </a:rPr>
              <a:t>-</a:t>
            </a:r>
            <a:r>
              <a:rPr sz="2150">
                <a:solidFill>
                  <a:srgbClr val="FD971F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F8F8F2"/>
                </a:solidFill>
                <a:latin typeface="Consolas"/>
              </a:rPr>
              <a:t>    </a:t>
            </a:r>
            <a:r>
              <a:rPr sz="2150">
                <a:solidFill>
                  <a:srgbClr val="66D9EF"/>
                </a:solidFill>
                <a:latin typeface="Consolas"/>
              </a:rPr>
              <a:t>Si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5C26B"/>
                </a:solidFill>
                <a:latin typeface="Consolas"/>
              </a:rPr>
              <a:t>Subcadena</a:t>
            </a:r>
            <a:r>
              <a:rPr sz="2150">
                <a:solidFill>
                  <a:srgbClr val="F8F8F2"/>
                </a:solidFill>
                <a:latin typeface="Consolas"/>
              </a:rPr>
              <a:t>(</a:t>
            </a:r>
            <a:r>
              <a:rPr sz="2150">
                <a:solidFill>
                  <a:srgbClr val="F8F8F2"/>
                </a:solidFill>
                <a:latin typeface="Consolas"/>
              </a:rPr>
              <a:t>texto</a:t>
            </a:r>
            <a:r>
              <a:rPr sz="2150">
                <a:solidFill>
                  <a:srgbClr val="F8F8F2"/>
                </a:solidFill>
                <a:latin typeface="Consolas"/>
              </a:rPr>
              <a:t>,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i</a:t>
            </a:r>
            <a:r>
              <a:rPr sz="2150">
                <a:solidFill>
                  <a:srgbClr val="F8F8F2"/>
                </a:solidFill>
                <a:latin typeface="Consolas"/>
              </a:rPr>
              <a:t>,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i</a:t>
            </a:r>
            <a:r>
              <a:rPr sz="2150">
                <a:solidFill>
                  <a:srgbClr val="F8F8F2"/>
                </a:solidFill>
                <a:latin typeface="Consolas"/>
              </a:rPr>
              <a:t>)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=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A6E22E"/>
                </a:solidFill>
                <a:latin typeface="Consolas"/>
              </a:rPr>
              <a:t>"o"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66D9EF"/>
                </a:solidFill>
                <a:latin typeface="Consolas"/>
              </a:rPr>
              <a:t>Entonces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F8F8F2"/>
                </a:solidFill>
                <a:latin typeface="Consolas"/>
              </a:rPr>
              <a:t>        </a:t>
            </a:r>
            <a:r>
              <a:rPr sz="2150">
                <a:solidFill>
                  <a:srgbClr val="F8F8F2"/>
                </a:solidFill>
                <a:latin typeface="Consolas"/>
              </a:rPr>
              <a:t>cont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&lt;</a:t>
            </a:r>
            <a:r>
              <a:rPr sz="2150">
                <a:solidFill>
                  <a:srgbClr val="F8F8F2"/>
                </a:solidFill>
                <a:latin typeface="Consolas"/>
              </a:rPr>
              <a:t>-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cont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+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D971F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F8F8F2"/>
                </a:solidFill>
                <a:latin typeface="Consolas"/>
              </a:rPr>
              <a:t>    </a:t>
            </a:r>
            <a:r>
              <a:rPr sz="2150">
                <a:solidFill>
                  <a:srgbClr val="66D9EF"/>
                </a:solidFill>
                <a:latin typeface="Consolas"/>
              </a:rPr>
              <a:t>FinSi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150">
                <a:solidFill>
                  <a:srgbClr val="66D9EF"/>
                </a:solidFill>
                <a:latin typeface="Consolas"/>
              </a:rPr>
              <a:t>Escribir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A6E22E"/>
                </a:solidFill>
                <a:latin typeface="Consolas"/>
              </a:rPr>
              <a:t>"Letras o: "</a:t>
            </a:r>
            <a:r>
              <a:rPr sz="2150">
                <a:solidFill>
                  <a:srgbClr val="F8F8F2"/>
                </a:solidFill>
                <a:latin typeface="Consolas"/>
              </a:rPr>
              <a:t>,</a:t>
            </a:r>
            <a:r>
              <a:rPr sz="2150">
                <a:solidFill>
                  <a:srgbClr val="F8F8F2"/>
                </a:solidFill>
                <a:latin typeface="Consolas"/>
              </a:rPr>
              <a:t> </a:t>
            </a:r>
            <a:r>
              <a:rPr sz="2150">
                <a:solidFill>
                  <a:srgbClr val="F8F8F2"/>
                </a:solidFill>
                <a:latin typeface="Consolas"/>
              </a:rPr>
              <a:t>cont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967873" y="2798489"/>
            <a:ext cx="14352253" cy="5956185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2350000" y="3000000"/>
            <a:ext cx="13600000" cy="5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Cadena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secuencia de caracteres.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Arreglo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varios valores del mismo tipo con índices.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Dimension</a:t>
            </a:r>
            <a:r>
              <a:rPr b="0" sz="2600">
                <a:solidFill>
                  <a:srgbClr val="000000"/>
                </a:solidFill>
                <a:latin typeface="Open Sans"/>
              </a:rPr>
              <a:t> define el tamaño.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Recorrido</a:t>
            </a:r>
            <a:r>
              <a:rPr b="0" sz="2600">
                <a:solidFill>
                  <a:srgbClr val="000000"/>
                </a:solidFill>
                <a:latin typeface="Open Sans"/>
              </a:rPr>
              <a:t> con ciclo Para.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Búsqueda secuencial</a:t>
            </a:r>
            <a:r>
              <a:rPr b="0" sz="2600">
                <a:solidFill>
                  <a:srgbClr val="000000"/>
                </a:solidFill>
                <a:latin typeface="Open Sans"/>
              </a:rPr>
              <a:t> con bandera.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Casos de prueba</a:t>
            </a:r>
            <a:r>
              <a:rPr b="0" sz="2600">
                <a:solidFill>
                  <a:srgbClr val="000000"/>
                </a:solidFill>
                <a:latin typeface="Open Sans"/>
              </a:rPr>
              <a:t> verifican el algoritmo.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9"/>
          <p:cNvSpPr txBox="1"/>
          <p:nvPr/>
        </p:nvSpPr>
        <p:spPr>
          <a:xfrm>
            <a:off x="2500000" y="2700000"/>
            <a:ext cx="13300000" cy="5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Joyanes Aguilar, L. (2008). Fundamentos de programación (4.ª ed.), cap. de arreglos. McGraw-Hill.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Ayuda de PSeInt – Arreglos y cadenas: https://pseint.sourceforge.net/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Cairó, O. (2005). Metodología de la programación. Alfaomega.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Cormen et al. (2022). Introduction to Algorithms, sección 2.1.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TextBox 173"/>
          <p:cNvSpPr txBox="1"/>
          <p:nvPr/>
        </p:nvSpPr>
        <p:spPr>
          <a:xfrm>
            <a:off x="900000" y="7450000"/>
            <a:ext cx="16500000" cy="2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b="1" sz="2800">
                <a:solidFill>
                  <a:srgbClr val="000000"/>
                </a:solidFill>
                <a:latin typeface="Open Sans"/>
              </a:rPr>
              <a:t>Ejercicio demostrativo: Registro de notas con arreglos</a:t>
            </a:r>
            <a:r>
              <a:rPr b="0" sz="2800">
                <a:solidFill>
                  <a:srgbClr val="000000"/>
                </a:solidFill>
                <a:latin typeface="Open Sans"/>
              </a:rPr>
              <a:t>  ·  20 min</a:t>
            </a:r>
          </a:p>
          <a:p>
            <a:pPr algn="ctr">
              <a:spcAft>
                <a:spcPts val="800"/>
              </a:spcAft>
            </a:pPr>
            <a:r>
              <a:rPr b="0" sz="2800">
                <a:solidFill>
                  <a:srgbClr val="000000"/>
                </a:solidFill>
                <a:latin typeface="Open Sans"/>
              </a:rPr>
              <a:t>Registramos nombres y notas de 10 estudiantes, calculamos el promedio y buscamos a un estudiante para actualizar su nota.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00000" y="6500000"/>
            <a:ext cx="16500000" cy="3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Actividad: Registro de 10 estudiantes con arreglos</a:t>
            </a:r>
            <a:r>
              <a:rPr b="0" sz="2600">
                <a:solidFill>
                  <a:srgbClr val="000000"/>
                </a:solidFill>
                <a:latin typeface="Open Sans"/>
              </a:rPr>
              <a:t>  ·  40 min  ·  Ponderación: 0 pts (formativa)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Registrar nombres y calificaciones de 10 estudiantes en PSeInt.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Operaciones: mostrar, buscar y actualizar.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Actividad 2: preparar tres casos de prueba (20 min).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2"/>
          <p:cNvSpPr txBox="1"/>
          <p:nvPr/>
        </p:nvSpPr>
        <p:spPr>
          <a:xfrm>
            <a:off x="5600000" y="1667078"/>
            <a:ext cx="4700000" cy="481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1800">
                <a:solidFill>
                  <a:srgbClr val="000000"/>
                </a:solidFill>
                <a:latin typeface="Open Sans"/>
              </a:rPr>
              <a:t>Actividad: Registro de 10 estudiantes con arreglos</a:t>
            </a: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000">
                <a:solidFill>
                  <a:srgbClr val="000000"/>
                </a:solidFill>
                <a:latin typeface="Open Sans"/>
              </a:rPr>
              <a:t>Sí</a:t>
            </a: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200">
                <a:solidFill>
                  <a:srgbClr val="000000"/>
                </a:solidFill>
                <a:latin typeface="Open Sans"/>
              </a:rPr>
              <a:t>40 min</a:t>
            </a: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3"/>
          <p:cNvSpPr txBox="1"/>
          <p:nvPr/>
        </p:nvSpPr>
        <p:spPr>
          <a:xfrm>
            <a:off x="2580394" y="3800000"/>
            <a:ext cx="13127212" cy="5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Video de la semana (6 min): canal de YouTube del curso 768 – Algoritmos.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Lectura (10 min): «Vectores: guardar muchos datos con un solo nombre».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Proyecto 1: asignación 05/09.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Práctica 2: entrega 11/09.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Arreglos unidimensionales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Un </a:t>
            </a:r>
            <a:r>
              <a:rPr b="1" sz="2400">
                <a:solidFill>
                  <a:srgbClr val="000000"/>
                </a:solidFill>
                <a:latin typeface="Open Sans"/>
              </a:rPr>
              <a:t>arreglo</a:t>
            </a:r>
            <a:r>
              <a:rPr b="0" sz="2400">
                <a:solidFill>
                  <a:srgbClr val="000000"/>
                </a:solidFill>
                <a:latin typeface="Open Sans"/>
              </a:rPr>
              <a:t> (vector) almacena varios valores </a:t>
            </a:r>
            <a:r>
              <a:rPr b="1" sz="2400">
                <a:solidFill>
                  <a:srgbClr val="000000"/>
                </a:solidFill>
                <a:latin typeface="Open Sans"/>
              </a:rPr>
              <a:t>del mismo tipo</a:t>
            </a:r>
            <a:r>
              <a:rPr b="0" sz="2400">
                <a:solidFill>
                  <a:srgbClr val="000000"/>
                </a:solidFill>
                <a:latin typeface="Open Sans"/>
              </a:rPr>
              <a:t> bajo un nombre.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Cada elemento se accede por su </a:t>
            </a:r>
            <a:r>
              <a:rPr b="1" sz="2400">
                <a:solidFill>
                  <a:srgbClr val="000000"/>
                </a:solidFill>
                <a:latin typeface="Open Sans"/>
              </a:rPr>
              <a:t>índice</a:t>
            </a:r>
            <a:r>
              <a:rPr b="0" sz="2400">
                <a:solidFill>
                  <a:srgbClr val="000000"/>
                </a:solidFill>
                <a:latin typeface="Open Sans"/>
              </a:rPr>
              <a:t> (en PSeInt desde 1).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Se declara con su </a:t>
            </a:r>
            <a:r>
              <a:rPr b="1" sz="2400">
                <a:solidFill>
                  <a:srgbClr val="000000"/>
                </a:solidFill>
                <a:latin typeface="Open Sans"/>
              </a:rPr>
              <a:t>dimensión</a:t>
            </a:r>
            <a:r>
              <a:rPr b="0" sz="2400">
                <a:solidFill>
                  <a:srgbClr val="000000"/>
                </a:solidFill>
                <a:latin typeface="Open Sans"/>
              </a:rPr>
              <a:t>: </a:t>
            </a:r>
            <a:r>
              <a:rPr b="1" sz="2400">
                <a:solidFill>
                  <a:srgbClr val="B3261E"/>
                </a:solidFill>
                <a:latin typeface="Consolas"/>
              </a:rPr>
              <a:t>Dimension notas[10]</a:t>
            </a:r>
            <a:r>
              <a:rPr b="0" sz="24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Tamaño fijo durante la ejecución.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Ideal para listas: notas, nombres, precios.</a:t>
            </a:r>
          </a:p>
        </p:txBody>
      </p:sp>
      <p:pic>
        <p:nvPicPr>
          <p:cNvPr id="151" name="Picture 150" descr="f8_arreg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000" y="6324030"/>
            <a:ext cx="11000000" cy="36129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Almacenamiento y lectura de elementos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Asignar: </a:t>
            </a:r>
            <a:r>
              <a:rPr b="1" sz="2600">
                <a:solidFill>
                  <a:srgbClr val="B3261E"/>
                </a:solidFill>
                <a:latin typeface="Consolas"/>
              </a:rPr>
              <a:t>notas[3] &lt;- 85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Leer del teclado dentro de un ciclo </a:t>
            </a:r>
            <a:r>
              <a:rPr b="1" sz="2600">
                <a:solidFill>
                  <a:srgbClr val="B3261E"/>
                </a:solidFill>
                <a:latin typeface="Consolas"/>
              </a:rPr>
              <a:t>Para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Mostrar recorriendo de 1 a N.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Siempre validar que el índice esté en el rango.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RegistroNotas.psc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Proceso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Notas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Dimension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nombres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D971F"/>
                </a:solidFill>
                <a:latin typeface="Consolas"/>
              </a:rPr>
              <a:t>10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notas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D971F"/>
                </a:solidFill>
                <a:latin typeface="Consolas"/>
              </a:rPr>
              <a:t>10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Definir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Como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Entero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10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"Nombre "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":"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66D9EF"/>
                </a:solidFill>
                <a:latin typeface="Consolas"/>
              </a:rPr>
              <a:t>Leer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nombres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"Nota "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":"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66D9EF"/>
                </a:solidFill>
                <a:latin typeface="Consolas"/>
              </a:rPr>
              <a:t>Leer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notas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10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+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notas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"Promedio: "</a:t>
            </a:r>
            <a:r>
              <a:rPr sz="2200">
                <a:solidFill>
                  <a:srgbClr val="F8F8F2"/>
                </a:solidFill>
                <a:latin typeface="Consolas"/>
              </a:rPr>
              <a:t>,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/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FinProceso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Recorridos, búsquedas y actualización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Recorrido:</a:t>
            </a:r>
            <a:r>
              <a:rPr b="0" sz="2600">
                <a:solidFill>
                  <a:srgbClr val="000000"/>
                </a:solidFill>
                <a:latin typeface="Open Sans"/>
              </a:rPr>
              <a:t> visitar todos los elementos.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Búsqueda secuencial:</a:t>
            </a:r>
            <a:r>
              <a:rPr b="0" sz="2600">
                <a:solidFill>
                  <a:srgbClr val="000000"/>
                </a:solidFill>
                <a:latin typeface="Open Sans"/>
              </a:rPr>
              <a:t> comparar elemento por elemento.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Actualización:</a:t>
            </a:r>
            <a:r>
              <a:rPr b="0" sz="2600">
                <a:solidFill>
                  <a:srgbClr val="000000"/>
                </a:solidFill>
                <a:latin typeface="Open Sans"/>
              </a:rPr>
              <a:t> cambiar un valor en un índice.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Acumuladores: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suma, promedio, mayor y menor.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Use una bandera lógica para indicar si se encontró.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Buscar y actualizar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encontrado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Falso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10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Hacer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Si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nombres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=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buscado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Entonces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F8F8F2"/>
                </a:solidFill>
                <a:latin typeface="Consolas"/>
              </a:rPr>
              <a:t>notas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nuevaNota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F8F8F2"/>
                </a:solidFill>
                <a:latin typeface="Consolas"/>
              </a:rPr>
              <a:t>encontrado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&lt;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Verdadero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FinSi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Si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5C26B"/>
                </a:solidFill>
                <a:latin typeface="Consolas"/>
              </a:rPr>
              <a:t>NO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encontrado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Entonces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Escribir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A6E22E"/>
                </a:solidFill>
                <a:latin typeface="Consolas"/>
              </a:rPr>
              <a:t>"No existe"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FinSi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Casos de prueba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Datos normales.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Nombre inexistente.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Actualizar la nota de un estudiante registrado.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Valores límite (0 y 100).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Documentar entradas y salidas esperadas.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