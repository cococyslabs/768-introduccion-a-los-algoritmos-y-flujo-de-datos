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10 – 19/09/2026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6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Administración y representación de algoritmos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10: Pseudocódigo, diagramas de flujo y pruebas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Proyecto 1 (PokeArena): entrega 27/09; revisen su avance.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La actividad de hoy es un cuestionario ponderado: 3 puntos.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4: entrega 20/09.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Repasen simbología de diagramas y pruebas de escritorio.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Estructura del pseudocódigo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Convenciones de escritura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Simbología de diagramas de flujo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Pruebas de escritorio y casos de prueba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Depuración; cuestionario (3 pts)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300000"/>
            <a:ext cx="12511183" cy="5600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700000"/>
            <a:ext cx="100000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Prueba el funcionamiento y la corrección de algoritmos mediante pruebas de escritorio, casos de prueba y ejecución para detectar errores lógicos y comprobar el cumplimiento de los resultados esperados</a:t>
            </a: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Crea algoritmos para resolver problemas secuenciales, condicionales y repetitivos mediante estructuras de control representadas con pseudocódigo para producir soluciones correctas, legibles y verificables de acuerdo con los resultados esperados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Comunicación técnica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Capacidad de representar y explicar soluciones algorítmicas de forma clara, ordenada y comprensible.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Usar correctamente la estructura del pseudocódigo, la simbología de los diagramas y la documentación de las pruebas, de modo que otras personas interpreten, ejecuten y comprueben la solución sin explicaciones adicionales.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Estructura del pseudocódigo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Describe un algoritmo en lenguaje casi natural, sin sintaxis estricta de un lenguaje real.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Partes: </a:t>
            </a:r>
            <a:r>
              <a:rPr b="1" sz="2600">
                <a:solidFill>
                  <a:srgbClr val="000000"/>
                </a:solidFill>
                <a:latin typeface="Open Sans"/>
              </a:rPr>
              <a:t>inicio y fin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declaración de variables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entrada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procesamiento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salida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Debe ser legible por cualquier persona del equipo.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Puede traducirse a cualquier lenguaje de programación.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Estructura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Proceso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PromedioNotas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7F8C8D"/>
                </a:solidFill>
                <a:latin typeface="Consolas"/>
              </a:rPr>
              <a:t>// Declaración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n1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n2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n3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prom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Real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7F8C8D"/>
                </a:solidFill>
                <a:latin typeface="Consolas"/>
              </a:rPr>
              <a:t>// Entrada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n1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n2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7F8C8D"/>
                </a:solidFill>
                <a:latin typeface="Consolas"/>
              </a:rPr>
              <a:t>// Procesamiento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8F8F2"/>
                </a:solidFill>
                <a:latin typeface="Consolas"/>
              </a:rPr>
              <a:t>prom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(</a:t>
            </a:r>
            <a:r>
              <a:rPr sz="2200">
                <a:solidFill>
                  <a:srgbClr val="F8F8F2"/>
                </a:solidFill>
                <a:latin typeface="Consolas"/>
              </a:rPr>
              <a:t>n1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n2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n3</a:t>
            </a:r>
            <a:r>
              <a:rPr sz="2200">
                <a:solidFill>
                  <a:srgbClr val="F8F8F2"/>
                </a:solidFill>
                <a:latin typeface="Consolas"/>
              </a:rPr>
              <a:t>)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/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7F8C8D"/>
                </a:solidFill>
                <a:latin typeface="Consolas"/>
              </a:rPr>
              <a:t>// Salida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"Promedio: "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prom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FinProceso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Pseudocódigo:</a:t>
            </a:r>
            <a:r>
              <a:rPr b="0" sz="2600">
                <a:solidFill>
                  <a:srgbClr val="000000"/>
                </a:solidFill>
                <a:latin typeface="Open Sans"/>
              </a:rPr>
              <a:t> descripción legible del algoritmo.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Convenciones: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indentación, nombres y comentarios.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Diagrama de flujo:</a:t>
            </a:r>
            <a:r>
              <a:rPr b="0" sz="2600">
                <a:solidFill>
                  <a:srgbClr val="000000"/>
                </a:solidFill>
                <a:latin typeface="Open Sans"/>
              </a:rPr>
              <a:t> símbolos normalizados.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Prueba de escritorio:</a:t>
            </a:r>
            <a:r>
              <a:rPr b="0" sz="2600">
                <a:solidFill>
                  <a:srgbClr val="000000"/>
                </a:solidFill>
                <a:latin typeface="Open Sans"/>
              </a:rPr>
              <a:t> seguimiento manual de variables.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Caso de prueba: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entrada y salida esperada.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Depuración: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encontrar y corregir errores lógicos.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Joyanes Aguilar, L. (2008). Fundamentos de programación (4.ª ed.). McGraw-Hill.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Cairó, O. (2005). Metodología de la programación. Alfaomega.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ISO 5807:1985 – Símbolos de documentación (diagramas de flujo).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Ayuda de RAPTOR y PSeInt.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Prueba de escritorio de un algoritmo con ciclo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15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Trazamos manualmente la suma de los primeros n números y comparamos con la ejecución en PSeInt.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Cuestionario de pseudocódigo, diagramas y pruebas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40 min  ·  Ponderación: 3 puntos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Preguntas sobre estructura del pseudocódigo, simbología y pruebas.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Resolución de pruebas de escritorio.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Cuestionario individual en la plataforma del curso.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Cuestionario de pseudocódigo, diagramas y pruebas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40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«Comunicar algoritmos con claridad».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Cuestionario: Quizizz del curso (enlace en UEDI).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Proyecto 1: entrega 27/09.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Convenciones de escritura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Palabras reservadas</a:t>
            </a:r>
            <a:r>
              <a:rPr b="0" sz="2600">
                <a:solidFill>
                  <a:srgbClr val="000000"/>
                </a:solidFill>
                <a:latin typeface="Open Sans"/>
              </a:rPr>
              <a:t> destacadas (Proceso, Si, Para…).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Indentación</a:t>
            </a:r>
            <a:r>
              <a:rPr b="0" sz="2600">
                <a:solidFill>
                  <a:srgbClr val="000000"/>
                </a:solidFill>
                <a:latin typeface="Open Sans"/>
              </a:rPr>
              <a:t> para mostrar anidamiento.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Nombres descriptivos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(</a:t>
            </a:r>
            <a:r>
              <a:rPr b="1" sz="2600">
                <a:solidFill>
                  <a:srgbClr val="B3261E"/>
                </a:solidFill>
                <a:latin typeface="Consolas"/>
              </a:rPr>
              <a:t>totalVentas</a:t>
            </a:r>
            <a:r>
              <a:rPr b="0" sz="2600">
                <a:solidFill>
                  <a:srgbClr val="000000"/>
                </a:solidFill>
                <a:latin typeface="Open Sans"/>
              </a:rPr>
              <a:t>, no </a:t>
            </a:r>
            <a:r>
              <a:rPr b="1" sz="2600">
                <a:solidFill>
                  <a:srgbClr val="B3261E"/>
                </a:solidFill>
                <a:latin typeface="Consolas"/>
              </a:rPr>
              <a:t>tv</a:t>
            </a:r>
            <a:r>
              <a:rPr b="0" sz="2600">
                <a:solidFill>
                  <a:srgbClr val="000000"/>
                </a:solidFill>
                <a:latin typeface="Open Sans"/>
              </a:rPr>
              <a:t>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Comentarios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que expliquen el porqué.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Una instrucción por línea.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2759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000"/>
                <a:gridCol w="4325000"/>
              </a:tblGrid>
              <a:tr h="919999">
                <a:tc>
                  <a:txBody>
                    <a:bodyPr wrap="square"/>
                    <a:lstStyle/>
                    <a:p>
                      <a:r>
                        <a:rPr b="1" sz="2030">
                          <a:solidFill>
                            <a:srgbClr val="FFFFFF"/>
                          </a:solidFill>
                          <a:latin typeface="Open Sans"/>
                        </a:rPr>
                        <a:t>Mal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030">
                          <a:solidFill>
                            <a:srgbClr val="FFFFFF"/>
                          </a:solidFill>
                          <a:latin typeface="Open Sans"/>
                        </a:rPr>
                        <a:t>Bien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919999">
                <a:tc>
                  <a:txBody>
                    <a:bodyPr wrap="square"/>
                    <a:lstStyle/>
                    <a:p>
                      <a:r>
                        <a:rPr b="0" sz="2030">
                          <a:solidFill>
                            <a:srgbClr val="1F1F1F"/>
                          </a:solidFill>
                          <a:latin typeface="Open Sans"/>
                        </a:rPr>
                        <a:t>x &lt;- a*b/c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030">
                          <a:solidFill>
                            <a:srgbClr val="1F1F1F"/>
                          </a:solidFill>
                          <a:latin typeface="Open Sans"/>
                        </a:rPr>
                        <a:t>precioFinal &lt;- cantidad * precio / descuento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919999">
                <a:tc>
                  <a:txBody>
                    <a:bodyPr wrap="square"/>
                    <a:lstStyle/>
                    <a:p>
                      <a:r>
                        <a:rPr b="0" sz="2030">
                          <a:solidFill>
                            <a:srgbClr val="1F1F1F"/>
                          </a:solidFill>
                          <a:latin typeface="Open Sans"/>
                        </a:rPr>
                        <a:t>Si a&gt;0 Entonces
Escribir 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030">
                          <a:solidFill>
                            <a:srgbClr val="1F1F1F"/>
                          </a:solidFill>
                          <a:latin typeface="Open Sans"/>
                        </a:rPr>
                        <a:t>Si a &gt; 0 Entonces
    Escribir 1
FinSi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Diagramas de flujo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Representación gráfica del algoritmo con </a:t>
            </a:r>
            <a:r>
              <a:rPr b="1" sz="2600">
                <a:solidFill>
                  <a:srgbClr val="000000"/>
                </a:solidFill>
                <a:latin typeface="Open Sans"/>
              </a:rPr>
              <a:t>símbolos normalizados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Óvalo: inicio/fin. Paralelogramo: entrada/salida.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Rectángulo: proceso. Rombo: decisión.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Flechas indican el flujo; un solo inicio.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Herramientas: </a:t>
            </a:r>
            <a:r>
              <a:rPr b="1" sz="2600">
                <a:solidFill>
                  <a:srgbClr val="000000"/>
                </a:solidFill>
                <a:latin typeface="Open Sans"/>
              </a:rPr>
              <a:t>RAPTOR</a:t>
            </a:r>
            <a:r>
              <a:rPr b="0" sz="2600">
                <a:solidFill>
                  <a:srgbClr val="000000"/>
                </a:solidFill>
                <a:latin typeface="Open Sans"/>
              </a:rPr>
              <a:t> y PSeInt (genera el diagrama).</a:t>
            </a:r>
          </a:p>
        </p:txBody>
      </p:sp>
      <p:pic>
        <p:nvPicPr>
          <p:cNvPr id="151" name="Picture 150" descr="f7_condi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0" y="2400000"/>
            <a:ext cx="8900000" cy="56320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Pruebas de escritorio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Seguimiento </a:t>
            </a:r>
            <a:r>
              <a:rPr b="1" sz="2400">
                <a:solidFill>
                  <a:srgbClr val="000000"/>
                </a:solidFill>
                <a:latin typeface="Open Sans"/>
              </a:rPr>
              <a:t>manual</a:t>
            </a:r>
            <a:r>
              <a:rPr b="0" sz="2400">
                <a:solidFill>
                  <a:srgbClr val="000000"/>
                </a:solidFill>
                <a:latin typeface="Open Sans"/>
              </a:rPr>
              <a:t> de variables, condiciones y ciclos con datos concretos.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Se construye una tabla con una columna por variable.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Permite descubrir errores lógicos antes de ejecutar.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Compara el resultado obtenido con el esperado.</a:t>
            </a:r>
          </a:p>
        </p:txBody>
      </p:sp>
      <p:pic>
        <p:nvPicPr>
          <p:cNvPr id="151" name="Picture 150" descr="f10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00" y="5380515"/>
            <a:ext cx="11000000" cy="45564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Casos de prueba y depuración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Caso de prueba: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entrada + salida esperada.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Incluir casos normales, límites y erróneos.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Depurar:</a:t>
            </a:r>
            <a:r>
              <a:rPr b="0" sz="2600">
                <a:solidFill>
                  <a:srgbClr val="000000"/>
                </a:solidFill>
                <a:latin typeface="Open Sans"/>
              </a:rPr>
              <a:t> localizar y corregir la causa de un error.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Técnicas: ejecución paso a paso, escribir valores intermedios.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Tipos de errores: sintaxis, ejecución y lógicos.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356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333"/>
                <a:gridCol w="2883333"/>
                <a:gridCol w="2883334"/>
              </a:tblGrid>
              <a:tr h="713000"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Caso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Entrada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Esperado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Normal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70, 80, 90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80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Límite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0, 0, 0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Límite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100, 100, 100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100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Erróneo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-5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Mensaje de error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