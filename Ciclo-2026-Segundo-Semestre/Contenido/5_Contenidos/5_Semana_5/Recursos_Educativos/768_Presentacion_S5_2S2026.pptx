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1" r:id="rId24"/>
    <p:sldId id="272" r:id="rId25"/>
    <p:sldId id="273" r:id="rId26"/>
    <p:sldId id="274" r:id="rId27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OpenSans-bold.fntdata"/><Relationship Id="rId22" Type="http://schemas.openxmlformats.org/officeDocument/2006/relationships/font" Target="fonts/OpenSans-boldItalic.fntdata"/><Relationship Id="rId23" Type="http://customschemas.google.com/relationships/presentationmetadata" Target="meta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Escuela de Ingeniería en Ciencias y Sistemas</a:t>
            </a: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Laboratorio 768 · Segundo Semestre 2026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330000"/>
            <a:ext cx="9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Tutor Académico: Jorge Andrés Mejía Súchite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3400">
                <a:solidFill>
                  <a:srgbClr val="000000"/>
                </a:solidFill>
                <a:latin typeface="Open Sans"/>
              </a:rPr>
              <a:t>Introducción a los Algoritmos y Flujo de Datos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00000" y="1830000"/>
            <a:ext cx="7388000" cy="125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1300000" y="2150000"/>
          <a:ext cx="6500000" cy="6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5000000"/>
              </a:tblGrid>
              <a:tr h="644000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1F1F1F"/>
                          </a:solidFill>
                          <a:latin typeface="Open Sans"/>
                        </a:rPr>
                        <a:t>Fecha: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Semana 5 – 15/08/2026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1144000" y="2900000"/>
            <a:ext cx="160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6600">
                <a:solidFill>
                  <a:srgbClr val="000000"/>
                </a:solidFill>
                <a:latin typeface="Open Sans"/>
              </a:rPr>
              <a:t>UNIDADES 3 y 4</a:t>
            </a:r>
          </a:p>
        </p:txBody>
      </p:sp>
      <p:sp>
        <p:nvSpPr>
          <p:cNvPr id="96" name="Google Shape;96;p2"/>
          <p:cNvSpPr txBox="1"/>
          <p:nvPr/>
        </p:nvSpPr>
        <p:spPr>
          <a:xfrm>
            <a:off x="1144000" y="4650000"/>
            <a:ext cx="1600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Pensamiento computacional · Fundamentos de algoritmos</a:t>
            </a: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sz="3400">
                <a:solidFill>
                  <a:srgbClr val="000000"/>
                </a:solidFill>
                <a:latin typeface="Open Sans"/>
              </a:rPr>
              <a:t>Semana 5: Análisis de problemas y técnicas de pensamiento computacional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687137" y="2492771"/>
            <a:ext cx="9432094" cy="6765529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>
            <a:off x="3971429" y="612837"/>
            <a:ext cx="11301259" cy="2288505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314891" y="2901342"/>
            <a:ext cx="4961633" cy="4961633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5276524" y="31744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 txBox="1"/>
          <p:nvPr/>
        </p:nvSpPr>
        <p:spPr>
          <a:xfrm>
            <a:off x="5980000" y="4328160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Tarea 2: entrega 16/08 por UEDI.</a:t>
            </a:r>
          </a:p>
        </p:txBody>
      </p:sp>
      <p:sp>
        <p:nvSpPr>
          <p:cNvPr id="107" name="Google Shape;107;p3"/>
          <p:cNvSpPr txBox="1"/>
          <p:nvPr/>
        </p:nvSpPr>
        <p:spPr>
          <a:xfrm>
            <a:off x="5980000" y="3342711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Hoy la actividad es un cuestionario ponderado: 3 puntos.</a:t>
            </a:r>
          </a:p>
        </p:txBody>
      </p:sp>
      <p:sp>
        <p:nvSpPr>
          <p:cNvPr id="108" name="Google Shape;108;p3"/>
          <p:cNvSpPr/>
          <p:nvPr/>
        </p:nvSpPr>
        <p:spPr>
          <a:xfrm>
            <a:off x="5276524" y="415805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5276524" y="525909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5276524" y="636014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5276524" y="746118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5980000" y="544881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Práctica 2 «Lógica de Juegos y Control de Estados» se asigna el 29/08.</a:t>
            </a:r>
          </a:p>
        </p:txBody>
      </p:sp>
      <p:sp>
        <p:nvSpPr>
          <p:cNvPr id="113" name="Google Shape;113;p3"/>
          <p:cNvSpPr txBox="1"/>
          <p:nvPr/>
        </p:nvSpPr>
        <p:spPr>
          <a:xfrm>
            <a:off x="5980000" y="643560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Repasen descomposición, patrones y abstracción antes del corto.</a:t>
            </a:r>
          </a:p>
        </p:txBody>
      </p:sp>
      <p:sp>
        <p:nvSpPr>
          <p:cNvPr id="114" name="Google Shape;114;p3"/>
          <p:cNvSpPr txBox="1"/>
          <p:nvPr/>
        </p:nvSpPr>
        <p:spPr>
          <a:xfrm>
            <a:off x="5980000" y="755574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4875920" y="4090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5700000" y="4328160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Identificación y definición de un problema</a:t>
            </a:r>
          </a:p>
        </p:txBody>
      </p:sp>
      <p:sp>
        <p:nvSpPr>
          <p:cNvPr id="123" name="Google Shape;123;p4"/>
          <p:cNvSpPr/>
          <p:nvPr/>
        </p:nvSpPr>
        <p:spPr>
          <a:xfrm>
            <a:off x="4875920" y="514350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5700000" y="537955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Entradas, procesos, salidas y restricciones</a:t>
            </a:r>
          </a:p>
        </p:txBody>
      </p:sp>
      <p:sp>
        <p:nvSpPr>
          <p:cNvPr id="125" name="Google Shape;125;p4"/>
          <p:cNvSpPr/>
          <p:nvPr/>
        </p:nvSpPr>
        <p:spPr>
          <a:xfrm>
            <a:off x="4875920" y="619489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4875920" y="72483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4875920" y="830173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5700000" y="638539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Descomposición</a:t>
            </a:r>
          </a:p>
        </p:txBody>
      </p:sp>
      <p:sp>
        <p:nvSpPr>
          <p:cNvPr id="129" name="Google Shape;129;p4"/>
          <p:cNvSpPr txBox="1"/>
          <p:nvPr/>
        </p:nvSpPr>
        <p:spPr>
          <a:xfrm>
            <a:off x="5700000" y="739123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Reconocimiento de patrones y abstracción</a:t>
            </a:r>
          </a:p>
        </p:txBody>
      </p:sp>
      <p:sp>
        <p:nvSpPr>
          <p:cNvPr id="130" name="Google Shape;130;p4"/>
          <p:cNvSpPr txBox="1"/>
          <p:nvPr/>
        </p:nvSpPr>
        <p:spPr>
          <a:xfrm>
            <a:off x="5700000" y="8444701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Generalización; cuestionario ponderado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>
            <a:off x="2888408" y="2300000"/>
            <a:ext cx="12511183" cy="5600000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 txBox="1"/>
          <p:nvPr/>
        </p:nvSpPr>
        <p:spPr>
          <a:xfrm>
            <a:off x="5100000" y="2700000"/>
            <a:ext cx="10000000" cy="4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200">
                <a:solidFill>
                  <a:srgbClr val="000000"/>
                </a:solidFill>
                <a:latin typeface="Open Sans"/>
              </a:rPr>
              <a:t> Descompone problemas computacionales en subproblemas manejables empleando técnicas de descomposición, reconocimiento de patrones y abstracción para identificar entradas, procesos y salidas antes de diseñar la solución algorítmica</a:t>
            </a: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200">
                <a:solidFill>
                  <a:srgbClr val="000000"/>
                </a:solidFill>
                <a:latin typeface="Open Sans"/>
              </a:rPr>
              <a:t> Identifica los componentes físicos y lógicos de un sistema computacional utilizando el modelo de Von Neumann y la clasificación del hardware y software para explicar la función de cada elemento en el procesamiento y flujo de datos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5616573" y="654273"/>
            <a:ext cx="7054854" cy="1553923"/>
          </a:xfrm>
          <a:custGeom>
            <a:rect b="b" l="l" r="r" t="t"/>
            <a:pathLst>
              <a:path extrusionOk="0" h="1553923" w="7054854">
                <a:moveTo>
                  <a:pt x="0" y="0"/>
                </a:moveTo>
                <a:lnTo>
                  <a:pt x="7054854" y="0"/>
                </a:lnTo>
                <a:lnTo>
                  <a:pt x="7054854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0664" r="-29526" t="0"/>
            </a:stretch>
          </a:blipFill>
          <a:ln>
            <a:noFill/>
          </a:ln>
        </p:spPr>
      </p:sp>
      <p:sp>
        <p:nvSpPr>
          <p:cNvPr id="144" name="Google Shape;144;p8"/>
          <p:cNvSpPr txBox="1"/>
          <p:nvPr/>
        </p:nvSpPr>
        <p:spPr>
          <a:xfrm>
            <a:off x="2414359" y="2700000"/>
            <a:ext cx="13459282" cy="6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Responsabilidad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Cumplir puntualmente con las actividades y prepararse adecuadamente para diseñar soluciones algorítmicas efectivas.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¿Cómo lo aplicamos hoy?</a:t>
            </a:r>
            <a:r>
              <a:rPr b="0" sz="3200">
                <a:solidFill>
                  <a:srgbClr val="000000"/>
                </a:solidFill>
                <a:latin typeface="Open Sans"/>
              </a:rPr>
              <a:t> Dedicar el tiempo necesario a analizar el contexto, las entradas y las salidas del problema antes de diseñar la solución algorítmica.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Análisis de problemas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Un </a:t>
            </a:r>
            <a:r>
              <a:rPr b="1" sz="2600">
                <a:solidFill>
                  <a:srgbClr val="000000"/>
                </a:solidFill>
                <a:latin typeface="Open Sans"/>
              </a:rPr>
              <a:t>problema</a:t>
            </a:r>
            <a:r>
              <a:rPr b="0" sz="2600">
                <a:solidFill>
                  <a:srgbClr val="000000"/>
                </a:solidFill>
                <a:latin typeface="Open Sans"/>
              </a:rPr>
              <a:t> es una situación con un estado inicial y un estado deseado.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Elementos: </a:t>
            </a:r>
            <a:r>
              <a:rPr b="1" sz="2600">
                <a:solidFill>
                  <a:srgbClr val="000000"/>
                </a:solidFill>
                <a:latin typeface="Open Sans"/>
              </a:rPr>
              <a:t>contexto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000000"/>
                </a:solidFill>
                <a:latin typeface="Open Sans"/>
              </a:rPr>
              <a:t>entradas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000000"/>
                </a:solidFill>
                <a:latin typeface="Open Sans"/>
              </a:rPr>
              <a:t>procesos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000000"/>
                </a:solidFill>
                <a:latin typeface="Open Sans"/>
              </a:rPr>
              <a:t>salidas</a:t>
            </a:r>
            <a:r>
              <a:rPr b="0" sz="2600">
                <a:solidFill>
                  <a:srgbClr val="000000"/>
                </a:solidFill>
                <a:latin typeface="Open Sans"/>
              </a:rPr>
              <a:t>, </a:t>
            </a:r>
            <a:r>
              <a:rPr b="1" sz="2600">
                <a:solidFill>
                  <a:srgbClr val="000000"/>
                </a:solidFill>
                <a:latin typeface="Open Sans"/>
              </a:rPr>
              <a:t>restricciones</a:t>
            </a:r>
            <a:r>
              <a:rPr b="0" sz="2600">
                <a:solidFill>
                  <a:srgbClr val="000000"/>
                </a:solidFill>
                <a:latin typeface="Open Sans"/>
              </a:rPr>
              <a:t> e </a:t>
            </a:r>
            <a:r>
              <a:rPr b="1" sz="2600">
                <a:solidFill>
                  <a:srgbClr val="000000"/>
                </a:solidFill>
                <a:latin typeface="Open Sans"/>
              </a:rPr>
              <a:t>instancias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Una instancia es un caso concreto (por ejemplo, 3 notas: 70, 85, 90).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Un buen problema es claro, relevante, tiene necesidad de solución y contexto definido.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9100000" y="2100000"/>
          <a:ext cx="8650000" cy="373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000"/>
                <a:gridCol w="4325000"/>
              </a:tblGrid>
              <a:tr h="747500"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Elemento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Ejemplo: promedio de 3 notas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7475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Entradas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nota1, nota2, nota3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475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Proceso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(n1 + n2 + n3) / 3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475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Salida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promedio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475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Restricción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0 ≤ nota ≤ 100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3493371" y="547445"/>
            <a:ext cx="11301259" cy="1553923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1967873" y="2798489"/>
            <a:ext cx="14352253" cy="5956185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2350000" y="3000000"/>
            <a:ext cx="13600000" cy="5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Problema</a:t>
            </a:r>
            <a:r>
              <a:rPr b="0" sz="2600">
                <a:solidFill>
                  <a:srgbClr val="000000"/>
                </a:solidFill>
                <a:latin typeface="Open Sans"/>
              </a:rPr>
              <a:t> = estado inicial + estado deseado + restricciones.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Instancia</a:t>
            </a:r>
            <a:r>
              <a:rPr b="0" sz="2600">
                <a:solidFill>
                  <a:srgbClr val="000000"/>
                </a:solidFill>
                <a:latin typeface="Open Sans"/>
              </a:rPr>
              <a:t> = caso concreto del problema.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Descomposición</a:t>
            </a:r>
            <a:r>
              <a:rPr b="0" sz="2600">
                <a:solidFill>
                  <a:srgbClr val="000000"/>
                </a:solidFill>
                <a:latin typeface="Open Sans"/>
              </a:rPr>
              <a:t> = dividir en subproblemas.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Patrones</a:t>
            </a:r>
            <a:r>
              <a:rPr b="0" sz="2600">
                <a:solidFill>
                  <a:srgbClr val="000000"/>
                </a:solidFill>
                <a:latin typeface="Open Sans"/>
              </a:rPr>
              <a:t> = similitudes que se reutilizan.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Abstracción</a:t>
            </a:r>
            <a:r>
              <a:rPr b="0" sz="2600">
                <a:solidFill>
                  <a:srgbClr val="000000"/>
                </a:solidFill>
                <a:latin typeface="Open Sans"/>
              </a:rPr>
              <a:t> = quedarse con lo esencial.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Generalización</a:t>
            </a:r>
            <a:r>
              <a:rPr b="0" sz="2600">
                <a:solidFill>
                  <a:srgbClr val="000000"/>
                </a:solidFill>
                <a:latin typeface="Open Sans"/>
              </a:rPr>
              <a:t> = solución válida para muchas instancias.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2317017" y="520965"/>
            <a:ext cx="13653966" cy="1873953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9"/>
          <p:cNvSpPr/>
          <p:nvPr/>
        </p:nvSpPr>
        <p:spPr>
          <a:xfrm>
            <a:off x="1989089" y="2422796"/>
            <a:ext cx="14309822" cy="6206885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9"/>
          <p:cNvSpPr txBox="1"/>
          <p:nvPr/>
        </p:nvSpPr>
        <p:spPr>
          <a:xfrm>
            <a:off x="2500000" y="2700000"/>
            <a:ext cx="13300000" cy="5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Wing, J. M. (2006). Computational Thinking. Communications of the ACM, 49(3), 33–35.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Polya, G. (1945). How to Solve It. Princeton University Press.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Cormen, T. H. et al. (2022). Introduction to Algorithms (4.ª ed.), cap. 1.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Google for Education – Exploring Computational Thinking: https://edu.google.com/resources/programs/exploring-computational-thinking/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TextBox 173"/>
          <p:cNvSpPr txBox="1"/>
          <p:nvPr/>
        </p:nvSpPr>
        <p:spPr>
          <a:xfrm>
            <a:off x="900000" y="7450000"/>
            <a:ext cx="16500000" cy="2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b="1" sz="2800">
                <a:solidFill>
                  <a:srgbClr val="000000"/>
                </a:solidFill>
                <a:latin typeface="Open Sans"/>
              </a:rPr>
              <a:t>Ejercicio demostrativo: Descomponer «organizar una rifa escolar»</a:t>
            </a:r>
            <a:r>
              <a:rPr b="0" sz="2800">
                <a:solidFill>
                  <a:srgbClr val="000000"/>
                </a:solidFill>
                <a:latin typeface="Open Sans"/>
              </a:rPr>
              <a:t>  ·  9 min</a:t>
            </a:r>
          </a:p>
          <a:p>
            <a:pPr algn="ctr">
              <a:spcAft>
                <a:spcPts val="800"/>
              </a:spcAft>
            </a:pPr>
            <a:r>
              <a:rPr b="0" sz="2800">
                <a:solidFill>
                  <a:srgbClr val="000000"/>
                </a:solidFill>
                <a:latin typeface="Open Sans"/>
              </a:rPr>
              <a:t>Identificamos entradas, procesos y salidas, descomponemos en subproblemas y generalizamos la solución.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TextBox 182"/>
          <p:cNvSpPr txBox="1"/>
          <p:nvPr/>
        </p:nvSpPr>
        <p:spPr>
          <a:xfrm>
            <a:off x="900000" y="6500000"/>
            <a:ext cx="16500000" cy="3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b="1" sz="2600">
                <a:solidFill>
                  <a:srgbClr val="000000"/>
                </a:solidFill>
                <a:latin typeface="Open Sans"/>
              </a:rPr>
              <a:t>Actividad: Cuestionario de pensamiento computacional</a:t>
            </a:r>
            <a:r>
              <a:rPr b="0" sz="2600">
                <a:solidFill>
                  <a:srgbClr val="000000"/>
                </a:solidFill>
                <a:latin typeface="Open Sans"/>
              </a:rPr>
              <a:t>  ·  50 min  ·  Ponderación: 3 puntos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Clasificar problemas según su contexto y características.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Aplicar descomposición, abstracción y reconocimiento de patrones.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Actividad 2 (optativa): descomponer un problema de su entorno.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2"/>
          <p:cNvSpPr txBox="1"/>
          <p:nvPr/>
        </p:nvSpPr>
        <p:spPr>
          <a:xfrm>
            <a:off x="5600000" y="1667078"/>
            <a:ext cx="4700000" cy="481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1800">
                <a:solidFill>
                  <a:srgbClr val="000000"/>
                </a:solidFill>
                <a:latin typeface="Open Sans"/>
              </a:rPr>
              <a:t>Actividad: Cuestionario de pensamiento computacional</a:t>
            </a: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000">
                <a:solidFill>
                  <a:srgbClr val="000000"/>
                </a:solidFill>
                <a:latin typeface="Open Sans"/>
              </a:rPr>
              <a:t>Sí</a:t>
            </a: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200">
                <a:solidFill>
                  <a:srgbClr val="000000"/>
                </a:solidFill>
                <a:latin typeface="Open Sans"/>
              </a:rPr>
              <a:t>50 min</a:t>
            </a: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3493371" y="-591537"/>
            <a:ext cx="11301259" cy="511382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3"/>
          <p:cNvSpPr/>
          <p:nvPr/>
        </p:nvSpPr>
        <p:spPr>
          <a:xfrm>
            <a:off x="2197698" y="3492869"/>
            <a:ext cx="13892604" cy="5765431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3"/>
          <p:cNvSpPr txBox="1"/>
          <p:nvPr/>
        </p:nvSpPr>
        <p:spPr>
          <a:xfrm>
            <a:off x="2580394" y="3800000"/>
            <a:ext cx="13127212" cy="5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Video de la semana (6 min): canal de YouTube del curso 768 – Algoritmos.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Lectura (10 min): «Pensar como programador».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Cuestionario: Quizizz del curso (enlace en UEDI).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Tarea 2: entrega 16/08.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Práctica 2: asignación 29/08.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Descomposición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4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Dividir un problema complejo en </a:t>
            </a:r>
            <a:r>
              <a:rPr b="1" sz="2400">
                <a:solidFill>
                  <a:srgbClr val="000000"/>
                </a:solidFill>
                <a:latin typeface="Open Sans"/>
              </a:rPr>
              <a:t>subproblemas</a:t>
            </a:r>
            <a:r>
              <a:rPr b="0" sz="2400">
                <a:solidFill>
                  <a:srgbClr val="000000"/>
                </a:solidFill>
                <a:latin typeface="Open Sans"/>
              </a:rPr>
              <a:t> manejables.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Cada subproblema se resuelve y prueba por separado.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Facilita el trabajo en equipo y la reutilización.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Ejemplo: sistema de notas = leer + validar + calcular + mostrar.</a:t>
            </a:r>
          </a:p>
        </p:txBody>
      </p:sp>
      <p:pic>
        <p:nvPicPr>
          <p:cNvPr id="151" name="Picture 150" descr="f5_descomposi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000" y="5395780"/>
            <a:ext cx="11000000" cy="45412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Reconocimiento de patrones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Buscar </a:t>
            </a:r>
            <a:r>
              <a:rPr b="1" sz="3000">
                <a:solidFill>
                  <a:srgbClr val="000000"/>
                </a:solidFill>
                <a:latin typeface="Open Sans"/>
              </a:rPr>
              <a:t>similitudes</a:t>
            </a:r>
            <a:r>
              <a:rPr b="0" sz="3000">
                <a:solidFill>
                  <a:srgbClr val="000000"/>
                </a:solidFill>
                <a:latin typeface="Open Sans"/>
              </a:rPr>
              <a:t> entre subproblemas o con problemas ya resueltos.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Permite reutilizar soluciones.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Ejemplo: calcular el promedio de notas y de edades usa el mismo patrón «sumar y dividir».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Identificar repeticiones sugiere un ciclo; decisiones sugieren condicionales.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Abstracción y generalización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Abstracción:</a:t>
            </a:r>
            <a:r>
              <a:rPr b="0" sz="2600">
                <a:solidFill>
                  <a:srgbClr val="000000"/>
                </a:solidFill>
                <a:latin typeface="Open Sans"/>
              </a:rPr>
              <a:t> ignorar detalles irrelevantes y quedarse con lo esencial.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Generalización:</a:t>
            </a:r>
            <a:r>
              <a:rPr b="0" sz="2600">
                <a:solidFill>
                  <a:srgbClr val="000000"/>
                </a:solidFill>
                <a:latin typeface="Open Sans"/>
              </a:rPr>
              <a:t> crear una solución válida para toda una familia de instancias.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Ejemplo: «promedio de n números» en lugar de «promedio de 3 notas».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Una buena abstracción usa variables y parámetros.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Generalización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Solución particular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prom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←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(</a:t>
            </a:r>
            <a:r>
              <a:rPr sz="2200">
                <a:solidFill>
                  <a:srgbClr val="FD971F"/>
                </a:solidFill>
                <a:latin typeface="Consolas"/>
              </a:rPr>
              <a:t>70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+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85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+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90</a:t>
            </a:r>
            <a:r>
              <a:rPr sz="2200">
                <a:solidFill>
                  <a:srgbClr val="F8F8F2"/>
                </a:solidFill>
                <a:latin typeface="Consolas"/>
              </a:rPr>
              <a:t>)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/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Solución generalizada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Leer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suma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←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Para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←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Leer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F8F8F2"/>
                </a:solidFill>
                <a:latin typeface="Consolas"/>
              </a:rPr>
              <a:t>suma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←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suma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+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nota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prom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←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suma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/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Pensamiento computacional paso a paso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1. Comprender el problema (entradas, salidas, restricciones).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2. Descomponer en subproblemas.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3. Reconocer patrones y reutilizar.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4. Abstraer y generalizar.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5. Diseñar el algoritmo (pseudocódigo o diagrama).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6. Probar con instancias distintas.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