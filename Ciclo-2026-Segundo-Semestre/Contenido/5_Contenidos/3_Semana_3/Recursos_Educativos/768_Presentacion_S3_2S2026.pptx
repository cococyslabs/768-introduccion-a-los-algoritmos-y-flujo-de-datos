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3 – 01/08/2026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UNIDADES 1 y 2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La computadora · Arquitectura y organización VNA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3: Modelo de Von Neumann y clasificación del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1 «La Odisea del Dato» se asigna hoy (01/08) y se califica el 08/08.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Hoy: arquitectura de Von Neumann y tipos de software.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Organícense en sus grupos de trabajo.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1: entrega el 02/08 por UEDI.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Modelo de Von Neumann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Unidad de control, ALU, registros y buses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RISC y CISC; memoria principal y secundaria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Software de sistema, aplicación y programación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Firmware, calidad y seguridad; actividad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Identifica los componentes físicos y lógicos de un sistema computacional utilizando el modelo de Von Neumann y la clasificación del hardware y software para explicar la función de cada elemento en el procesamiento y flujo de datos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General:</a:t>
            </a:r>
            <a:r>
              <a:rPr b="0" sz="2200">
                <a:solidFill>
                  <a:srgbClr val="000000"/>
                </a:solidFill>
                <a:latin typeface="Open Sans"/>
              </a:rPr>
              <a:t> Analiza problemas computacionales y formula soluciones algorítmicas utilizando pensamiento computacional, pseudocódigo y diagramas de flujo en las tecnologías establecidas para representar el procesamiento y flujo de datos bajo criterios de corrección lógica, claridad y orden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Precisión profesional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Capacidad de actuar con exactitud, claridad y responsabilidad al aplicar conocimientos técnicos, con alto nivel de detalle y sin margen para errores innecesarios.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Documentar y clasificar correctamente cada tipo de software (sistema, aplicación, programación) y firmware, sin errores ni ambigüedades.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Modelo de Von Neumann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Propuesto por John von Neumann (1945): </a:t>
            </a:r>
            <a:r>
              <a:rPr b="1" sz="2400">
                <a:solidFill>
                  <a:srgbClr val="000000"/>
                </a:solidFill>
                <a:latin typeface="Open Sans"/>
              </a:rPr>
              <a:t>programa almacenado en memoria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Instrucciones y datos comparten la misma memoria.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Componentes: </a:t>
            </a:r>
            <a:r>
              <a:rPr b="1" sz="2400">
                <a:solidFill>
                  <a:srgbClr val="000000"/>
                </a:solidFill>
                <a:latin typeface="Open Sans"/>
              </a:rPr>
              <a:t>CPU</a:t>
            </a:r>
            <a:r>
              <a:rPr b="0" sz="2400">
                <a:solidFill>
                  <a:srgbClr val="000000"/>
                </a:solidFill>
                <a:latin typeface="Open Sans"/>
              </a:rPr>
              <a:t> (unidad de control + ALU + registros), </a:t>
            </a:r>
            <a:r>
              <a:rPr b="1" sz="2400">
                <a:solidFill>
                  <a:srgbClr val="000000"/>
                </a:solidFill>
                <a:latin typeface="Open Sans"/>
              </a:rPr>
              <a:t>memoria</a:t>
            </a:r>
            <a:r>
              <a:rPr b="0" sz="2400">
                <a:solidFill>
                  <a:srgbClr val="000000"/>
                </a:solidFill>
                <a:latin typeface="Open Sans"/>
              </a:rPr>
              <a:t>, </a:t>
            </a:r>
            <a:r>
              <a:rPr b="1" sz="2400">
                <a:solidFill>
                  <a:srgbClr val="000000"/>
                </a:solidFill>
                <a:latin typeface="Open Sans"/>
              </a:rPr>
              <a:t>entrada/salida</a:t>
            </a:r>
            <a:r>
              <a:rPr b="0" sz="2400">
                <a:solidFill>
                  <a:srgbClr val="000000"/>
                </a:solidFill>
                <a:latin typeface="Open Sans"/>
              </a:rPr>
              <a:t> y </a:t>
            </a:r>
            <a:r>
              <a:rPr b="1" sz="2400">
                <a:solidFill>
                  <a:srgbClr val="000000"/>
                </a:solidFill>
                <a:latin typeface="Open Sans"/>
              </a:rPr>
              <a:t>buses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Base de casi todas las computadoras actuales.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Limitación: *cuello de botella de Von Neumann* (un solo canal CPU–memoria).</a:t>
            </a:r>
          </a:p>
        </p:txBody>
      </p:sp>
      <p:pic>
        <p:nvPicPr>
          <p:cNvPr id="151" name="Picture 150" descr="f3_v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00" y="4758901"/>
            <a:ext cx="11000000" cy="5178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Von Neumann:</a:t>
            </a:r>
            <a:r>
              <a:rPr b="0" sz="2600">
                <a:solidFill>
                  <a:srgbClr val="000000"/>
                </a:solidFill>
                <a:latin typeface="Open Sans"/>
              </a:rPr>
              <a:t> programa almacenado; instrucciones y datos en la misma memoria.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UC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controla; </a:t>
            </a:r>
            <a:r>
              <a:rPr b="1" sz="2600">
                <a:solidFill>
                  <a:srgbClr val="000000"/>
                </a:solidFill>
                <a:latin typeface="Open Sans"/>
              </a:rPr>
              <a:t>ALU</a:t>
            </a:r>
            <a:r>
              <a:rPr b="0" sz="2600">
                <a:solidFill>
                  <a:srgbClr val="000000"/>
                </a:solidFill>
                <a:latin typeface="Open Sans"/>
              </a:rPr>
              <a:t> calcula; </a:t>
            </a:r>
            <a:r>
              <a:rPr b="1" sz="2600">
                <a:solidFill>
                  <a:srgbClr val="000000"/>
                </a:solidFill>
                <a:latin typeface="Open Sans"/>
              </a:rPr>
              <a:t>registros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almacenan temporalmente.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Buses: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datos, direcciones y control.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RISC</a:t>
            </a:r>
            <a:r>
              <a:rPr b="0" sz="2600">
                <a:solidFill>
                  <a:srgbClr val="000000"/>
                </a:solidFill>
                <a:latin typeface="Open Sans"/>
              </a:rPr>
              <a:t> simplifica instrucciones; </a:t>
            </a:r>
            <a:r>
              <a:rPr b="1" sz="2600">
                <a:solidFill>
                  <a:srgbClr val="000000"/>
                </a:solidFill>
                <a:latin typeface="Open Sans"/>
              </a:rPr>
              <a:t>CISC</a:t>
            </a:r>
            <a:r>
              <a:rPr b="0" sz="2600">
                <a:solidFill>
                  <a:srgbClr val="000000"/>
                </a:solidFill>
                <a:latin typeface="Open Sans"/>
              </a:rPr>
              <a:t> las hace más complejas.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Software: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sistema, aplicación, programación y firmware.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Normas internacionales aseguran calidad y seguridad del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Tanenbaum, A. S. y Austin, T. (2013). Structured Computer Organization (6.ª ed.). Pearson.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Patterson, D. A. y Hennessy, J. L. (2014). Computer Organization and Design (5.ª ed.). Morgan Kaufmann.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ISO/IEC 25010:2011 – Modelos de calidad de software.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von Neumann, J. (1945). First Draft of a Report on the EDVAC.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Clasificar software real en las capas del sistema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14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Ubicamos aplicaciones conocidas (WhatsApp, Windows, BIOS, PSeInt) en la capa correcta y explicamos su interacción con el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Clasificación de software y arquitectura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35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Clasificar ejemplos reales en sistema, aplicación, programación o firmware.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Ubicarlos en la arquitectura e indicar su nivel de interacción con el hardware.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 (optativa): investigar un estándar de calidad/seguridad.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Clasificación de software y arquitectura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35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«La arquitectura de Von Neumann y sus límites».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1: entrega 02/08 por UEDI.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Práctica 1: asignación 01/08.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Simulador Von Neumann: https://peterhigginson.co.uk/lmc/ (Little Man Computer)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CPU: unidad de control, ALU y registros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Unidad de control (UC):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decodifica instrucciones y coordina los demás componentes.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ALU:</a:t>
            </a:r>
            <a:r>
              <a:rPr b="0" sz="2600">
                <a:solidFill>
                  <a:srgbClr val="000000"/>
                </a:solidFill>
                <a:latin typeface="Open Sans"/>
              </a:rPr>
              <a:t> realiza operaciones aritméticas (+, −, ×, ÷) y lógicas (AND, OR, NOT, comparaciones).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Registros: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memoria muy rápida dentro de la CPU.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 ciclo </a:t>
            </a:r>
            <a:r>
              <a:rPr b="1" sz="2600">
                <a:solidFill>
                  <a:srgbClr val="000000"/>
                </a:solidFill>
                <a:latin typeface="Open Sans"/>
              </a:rPr>
              <a:t>fetch-decode-execute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 repite para cada instrucción.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56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000"/>
                <a:gridCol w="4325000"/>
              </a:tblGrid>
              <a:tr h="713000">
                <a:tc>
                  <a:txBody>
                    <a:bodyPr wrap="square"/>
                    <a:lstStyle/>
                    <a:p>
                      <a:r>
                        <a:rPr b="1" sz="2175">
                          <a:solidFill>
                            <a:srgbClr val="FFFFFF"/>
                          </a:solidFill>
                          <a:latin typeface="Open Sans"/>
                        </a:rPr>
                        <a:t>Registro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175">
                          <a:solidFill>
                            <a:srgbClr val="FFFFFF"/>
                          </a:solidFill>
                          <a:latin typeface="Open Sans"/>
                        </a:rPr>
                        <a:t>Función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PC (contador de programa)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Dirección de la siguiente instrucción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IR (registro de instrucción)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Instrucción actual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AC / ACC (acumulador)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Resultados de la ALU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MAR / MDR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75">
                          <a:solidFill>
                            <a:srgbClr val="1F1F1F"/>
                          </a:solidFill>
                          <a:latin typeface="Open Sans"/>
                        </a:rPr>
                        <a:t>Dirección y dato en memoria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Buses y ciclo de instrucción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Bus de direcciones:</a:t>
            </a:r>
            <a:r>
              <a:rPr b="0" sz="2400">
                <a:solidFill>
                  <a:srgbClr val="000000"/>
                </a:solidFill>
                <a:latin typeface="Open Sans"/>
              </a:rPr>
              <a:t> indica la posición de memoria.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Bus de datos:</a:t>
            </a:r>
            <a:r>
              <a:rPr b="0" sz="2400">
                <a:solidFill>
                  <a:srgbClr val="000000"/>
                </a:solidFill>
                <a:latin typeface="Open Sans"/>
              </a:rPr>
              <a:t> transporta el dato.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400">
                <a:solidFill>
                  <a:srgbClr val="000000"/>
                </a:solidFill>
                <a:latin typeface="Open Sans"/>
              </a:rPr>
              <a:t>Bus de control:</a:t>
            </a:r>
            <a:r>
              <a:rPr b="0" sz="2400">
                <a:solidFill>
                  <a:srgbClr val="000000"/>
                </a:solidFill>
                <a:latin typeface="Open Sans"/>
              </a:rPr>
              <a:t> señales de lectura, escritura y sincronización.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FETCH: PC → MAR → memoria → IR; PC + 1.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DECODE: la UC interpreta el código de operación.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EXECUTE: la ALU opera y se guarda el resultado.</a:t>
            </a:r>
          </a:p>
        </p:txBody>
      </p:sp>
      <p:pic>
        <p:nvPicPr>
          <p:cNvPr id="151" name="Picture 150" descr="f3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5618312"/>
            <a:ext cx="11000000" cy="43186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RISC vs CISC; memoria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CISC:</a:t>
            </a:r>
            <a:r>
              <a:rPr b="0" sz="2600">
                <a:solidFill>
                  <a:srgbClr val="000000"/>
                </a:solidFill>
                <a:latin typeface="Open Sans"/>
              </a:rPr>
              <a:t> muchas instrucciones complejas (x86).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RISC:</a:t>
            </a:r>
            <a:r>
              <a:rPr b="0" sz="2600">
                <a:solidFill>
                  <a:srgbClr val="000000"/>
                </a:solidFill>
                <a:latin typeface="Open Sans"/>
              </a:rPr>
              <a:t> pocas instrucciones simples y rápidas (ARM, RISC-V).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Memoria principal (RAM):</a:t>
            </a:r>
            <a:r>
              <a:rPr b="0" sz="2600">
                <a:solidFill>
                  <a:srgbClr val="000000"/>
                </a:solidFill>
                <a:latin typeface="Open Sans"/>
              </a:rPr>
              <a:t> rápida y volátil.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Memoria secundaria: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disco/SSD; persistente y más lenta.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Jerarquía de memoria: registros &gt; caché &gt; RAM &gt; almacenamiento.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56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13000"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Aspecto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RISC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CISC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Instrucciones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Simples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Complejas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Ejemplo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ARM, RISC-V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x86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Código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Más líneas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Menos líneas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Consumo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Bajo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Mayor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Software de sistema, aplicación y programación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Sistema:</a:t>
            </a:r>
            <a:r>
              <a:rPr b="0" sz="3000">
                <a:solidFill>
                  <a:srgbClr val="000000"/>
                </a:solidFill>
                <a:latin typeface="Open Sans"/>
              </a:rPr>
              <a:t> sistemas operativos, hipervisores, utilitarios.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Aplicación:</a:t>
            </a:r>
            <a:r>
              <a:rPr b="0" sz="3000">
                <a:solidFill>
                  <a:srgbClr val="000000"/>
                </a:solidFill>
                <a:latin typeface="Open Sans"/>
              </a:rPr>
              <a:t> ERP, CRM, WMS, ofimática.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Programación:</a:t>
            </a:r>
            <a:r>
              <a:rPr b="0" sz="3000">
                <a:solidFill>
                  <a:srgbClr val="000000"/>
                </a:solidFill>
                <a:latin typeface="Open Sans"/>
              </a:rPr>
              <a:t> lenguajes y herramientas para crear software; clasificación por nivel (máquina, ensamblador, alto nivel) y paradigma.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Control de calidad y seguridad:</a:t>
            </a:r>
            <a:r>
              <a:rPr b="0" sz="3000">
                <a:solidFill>
                  <a:srgbClr val="000000"/>
                </a:solidFill>
                <a:latin typeface="Open Sans"/>
              </a:rPr>
              <a:t> normas ISO/IEC 25010, 27001; pruebas.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Firmware:</a:t>
            </a:r>
            <a:r>
              <a:rPr b="0" sz="3000">
                <a:solidFill>
                  <a:srgbClr val="000000"/>
                </a:solidFill>
                <a:latin typeface="Open Sans"/>
              </a:rPr>
              <a:t> programa de bajo nivel que controla el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