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71" r:id="rId24"/>
    <p:sldId id="272" r:id="rId25"/>
    <p:sldId id="273" r:id="rId26"/>
    <p:sldId id="274" r:id="rId27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10287000" cx="18288000"/>
  <p:notesSz cx="6858000" cy="9144000"/>
  <p:embeddedFontLst>
    <p:embeddedFont>
      <p:font typeface="Open Sans"/>
      <p:bold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3" roundtripDataSignature="AMtx7mh5uyU4M8NqpuQa0XNrGDtHby9g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font" Target="fonts/OpenSans-bold.fntdata"/><Relationship Id="rId22" Type="http://schemas.openxmlformats.org/officeDocument/2006/relationships/font" Target="fonts/OpenSans-boldItalic.fntdata"/><Relationship Id="rId23" Type="http://customschemas.google.com/relationships/presentationmetadata" Target="metadata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4" Type="http://schemas.openxmlformats.org/officeDocument/2006/relationships/image" Target="../media/image24.png"/><Relationship Id="rId5" Type="http://schemas.openxmlformats.org/officeDocument/2006/relationships/image" Target="../media/image8.png"/><Relationship Id="rId8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1969850" y="3030151"/>
            <a:ext cx="15055872" cy="3260981"/>
          </a:xfrm>
          <a:custGeom>
            <a:rect b="b" l="l" r="r" t="t"/>
            <a:pathLst>
              <a:path extrusionOk="0" h="1811656" w="9002016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 txBox="1"/>
          <p:nvPr/>
        </p:nvSpPr>
        <p:spPr>
          <a:xfrm>
            <a:off x="5792614" y="6291132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400">
                <a:solidFill>
                  <a:srgbClr val="000000"/>
                </a:solidFill>
                <a:latin typeface="Open Sans"/>
              </a:rPr>
              <a:t>Escuela de Ingeniería en Ciencias y Sistemas</a:t>
            </a: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400">
                <a:solidFill>
                  <a:srgbClr val="000000"/>
                </a:solidFill>
                <a:latin typeface="Open Sans"/>
              </a:rPr>
              <a:t>Laboratorio 768 · Segundo Semestre 2026</a:t>
            </a:r>
          </a:p>
        </p:txBody>
      </p:sp>
      <p:sp>
        <p:nvSpPr>
          <p:cNvPr id="88" name="Google Shape;88;p1"/>
          <p:cNvSpPr txBox="1"/>
          <p:nvPr/>
        </p:nvSpPr>
        <p:spPr>
          <a:xfrm>
            <a:off x="348639" y="9330000"/>
            <a:ext cx="9000000" cy="8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400">
                <a:solidFill>
                  <a:srgbClr val="000000"/>
                </a:solidFill>
                <a:latin typeface="Open Sans"/>
              </a:rPr>
              <a:t>Tutor Académico: Jorge Andrés Mejía Súchite</a:t>
            </a:r>
          </a:p>
        </p:txBody>
      </p:sp>
      <p:sp>
        <p:nvSpPr>
          <p:cNvPr id="89" name="Google Shape;89;p1"/>
          <p:cNvSpPr txBox="1"/>
          <p:nvPr/>
        </p:nvSpPr>
        <p:spPr>
          <a:xfrm>
            <a:off x="2904236" y="3801950"/>
            <a:ext cx="13187100" cy="14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3400">
                <a:solidFill>
                  <a:srgbClr val="000000"/>
                </a:solidFill>
                <a:latin typeface="Open Sans"/>
              </a:rPr>
              <a:t>Introducción a los Algoritmos y Flujo de Datos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0900000" y="1830000"/>
            <a:ext cx="7388000" cy="1250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91" name="Table 90"/>
          <p:cNvGraphicFramePr>
            <a:graphicFrameLocks noGrp="1"/>
          </p:cNvGraphicFramePr>
          <p:nvPr/>
        </p:nvGraphicFramePr>
        <p:xfrm>
          <a:off x="11300000" y="2150000"/>
          <a:ext cx="6500000" cy="6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000"/>
                <a:gridCol w="5000000"/>
              </a:tblGrid>
              <a:tr h="644000">
                <a:tc>
                  <a:txBody>
                    <a:bodyPr wrap="square"/>
                    <a:lstStyle/>
                    <a:p>
                      <a:r>
                        <a:rPr b="1" sz="2900">
                          <a:solidFill>
                            <a:srgbClr val="1F1F1F"/>
                          </a:solidFill>
                          <a:latin typeface="Open Sans"/>
                        </a:rPr>
                        <a:t>Fecha: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900">
                          <a:solidFill>
                            <a:srgbClr val="1F1F1F"/>
                          </a:solidFill>
                          <a:latin typeface="Open Sans"/>
                        </a:rPr>
                        <a:t>Semana 6 – 22/08/2026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0" y="0"/>
            <a:ext cx="18288000" cy="10401300"/>
          </a:xfrm>
          <a:custGeom>
            <a:rect b="b" l="l" r="r" t="t"/>
            <a:pathLst>
              <a:path extrusionOk="0" h="10401300" w="18288000">
                <a:moveTo>
                  <a:pt x="0" y="0"/>
                </a:moveTo>
                <a:lnTo>
                  <a:pt x="18288000" y="0"/>
                </a:lnTo>
                <a:lnTo>
                  <a:pt x="18288000" y="10401300"/>
                </a:lnTo>
                <a:lnTo>
                  <a:pt x="0" y="10401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2"/>
          <p:cNvSpPr txBox="1"/>
          <p:nvPr/>
        </p:nvSpPr>
        <p:spPr>
          <a:xfrm>
            <a:off x="1144000" y="2900000"/>
            <a:ext cx="16000000" cy="17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6600">
                <a:solidFill>
                  <a:srgbClr val="000000"/>
                </a:solidFill>
                <a:latin typeface="Open Sans"/>
              </a:rPr>
              <a:t>UNIDAD 4</a:t>
            </a:r>
          </a:p>
        </p:txBody>
      </p:sp>
      <p:sp>
        <p:nvSpPr>
          <p:cNvPr id="96" name="Google Shape;96;p2"/>
          <p:cNvSpPr txBox="1"/>
          <p:nvPr/>
        </p:nvSpPr>
        <p:spPr>
          <a:xfrm>
            <a:off x="1144000" y="4650000"/>
            <a:ext cx="16000000" cy="2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Fundamentos de Algoritmos</a:t>
            </a: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0" sz="3400">
                <a:solidFill>
                  <a:srgbClr val="000000"/>
                </a:solidFill>
                <a:latin typeface="Open Sans"/>
              </a:rPr>
              <a:t>Semana 6: Elementos de un algoritmo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/>
          <p:nvPr/>
        </p:nvSpPr>
        <p:spPr>
          <a:xfrm>
            <a:off x="4687137" y="2492771"/>
            <a:ext cx="9432094" cy="6765529"/>
          </a:xfrm>
          <a:custGeom>
            <a:rect b="b" l="l" r="r" t="t"/>
            <a:pathLst>
              <a:path extrusionOk="0" h="6765529" w="9432094">
                <a:moveTo>
                  <a:pt x="0" y="0"/>
                </a:moveTo>
                <a:lnTo>
                  <a:pt x="9432093" y="0"/>
                </a:lnTo>
                <a:lnTo>
                  <a:pt x="9432093" y="6765529"/>
                </a:lnTo>
                <a:lnTo>
                  <a:pt x="0" y="67655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3"/>
          <p:cNvSpPr/>
          <p:nvPr/>
        </p:nvSpPr>
        <p:spPr>
          <a:xfrm>
            <a:off x="3971429" y="612837"/>
            <a:ext cx="11301259" cy="2288505"/>
          </a:xfrm>
          <a:custGeom>
            <a:rect b="b" l="l" r="r" t="t"/>
            <a:pathLst>
              <a:path extrusionOk="0" h="2288505" w="11301259">
                <a:moveTo>
                  <a:pt x="0" y="0"/>
                </a:moveTo>
                <a:lnTo>
                  <a:pt x="11301259" y="0"/>
                </a:lnTo>
                <a:lnTo>
                  <a:pt x="11301259" y="2288505"/>
                </a:lnTo>
                <a:lnTo>
                  <a:pt x="0" y="22885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3"/>
          <p:cNvSpPr/>
          <p:nvPr/>
        </p:nvSpPr>
        <p:spPr>
          <a:xfrm>
            <a:off x="314891" y="2901342"/>
            <a:ext cx="4961633" cy="4961633"/>
          </a:xfrm>
          <a:custGeom>
            <a:rect b="b" l="l" r="r" t="t"/>
            <a:pathLst>
              <a:path extrusionOk="0" h="4961633" w="4961633">
                <a:moveTo>
                  <a:pt x="0" y="0"/>
                </a:moveTo>
                <a:lnTo>
                  <a:pt x="4961633" y="0"/>
                </a:lnTo>
                <a:lnTo>
                  <a:pt x="4961633" y="4961632"/>
                </a:lnTo>
                <a:lnTo>
                  <a:pt x="0" y="49616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4" name="Google Shape;104;p3"/>
          <p:cNvSpPr/>
          <p:nvPr/>
        </p:nvSpPr>
        <p:spPr>
          <a:xfrm>
            <a:off x="5276524" y="3174482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3"/>
          <p:cNvSpPr txBox="1"/>
          <p:nvPr/>
        </p:nvSpPr>
        <p:spPr>
          <a:xfrm>
            <a:off x="5980000" y="4328160"/>
            <a:ext cx="80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Instale PSeInt antes de la sesión: https://pseint.sourceforge.net</a:t>
            </a:r>
          </a:p>
        </p:txBody>
      </p:sp>
      <p:sp>
        <p:nvSpPr>
          <p:cNvPr id="107" name="Google Shape;107;p3"/>
          <p:cNvSpPr txBox="1"/>
          <p:nvPr/>
        </p:nvSpPr>
        <p:spPr>
          <a:xfrm>
            <a:off x="5980000" y="3342711"/>
            <a:ext cx="80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La actividad de hoy está ponderada: 2 puntos.</a:t>
            </a:r>
          </a:p>
        </p:txBody>
      </p:sp>
      <p:sp>
        <p:nvSpPr>
          <p:cNvPr id="108" name="Google Shape;108;p3"/>
          <p:cNvSpPr/>
          <p:nvPr/>
        </p:nvSpPr>
        <p:spPr>
          <a:xfrm>
            <a:off x="5276524" y="4158051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3"/>
          <p:cNvSpPr/>
          <p:nvPr/>
        </p:nvSpPr>
        <p:spPr>
          <a:xfrm>
            <a:off x="5276524" y="5259095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" name="Google Shape;110;p3"/>
          <p:cNvSpPr/>
          <p:nvPr/>
        </p:nvSpPr>
        <p:spPr>
          <a:xfrm>
            <a:off x="5276524" y="6360140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p3"/>
          <p:cNvSpPr/>
          <p:nvPr/>
        </p:nvSpPr>
        <p:spPr>
          <a:xfrm>
            <a:off x="5276524" y="7461184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3"/>
          <p:cNvSpPr txBox="1"/>
          <p:nvPr/>
        </p:nvSpPr>
        <p:spPr>
          <a:xfrm>
            <a:off x="5980000" y="5448816"/>
            <a:ext cx="80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Tarea 3 (agenda con vectores paralelos): asignación 22/08 – entrega 30/08.</a:t>
            </a:r>
          </a:p>
        </p:txBody>
      </p:sp>
      <p:sp>
        <p:nvSpPr>
          <p:cNvPr id="113" name="Google Shape;113;p3"/>
          <p:cNvSpPr txBox="1"/>
          <p:nvPr/>
        </p:nvSpPr>
        <p:spPr>
          <a:xfrm>
            <a:off x="5980000" y="6435606"/>
            <a:ext cx="80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Práctica 2: asignada el 29/08.</a:t>
            </a:r>
          </a:p>
        </p:txBody>
      </p:sp>
      <p:sp>
        <p:nvSpPr>
          <p:cNvPr id="114" name="Google Shape;114;p3"/>
          <p:cNvSpPr txBox="1"/>
          <p:nvPr/>
        </p:nvSpPr>
        <p:spPr>
          <a:xfrm>
            <a:off x="5980000" y="7555746"/>
            <a:ext cx="80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Dudas: foro del curso en UEDI.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/>
          <p:nvPr/>
        </p:nvSpPr>
        <p:spPr>
          <a:xfrm>
            <a:off x="4016947" y="3558803"/>
            <a:ext cx="9896507" cy="5913163"/>
          </a:xfrm>
          <a:custGeom>
            <a:rect b="b" l="l" r="r" t="t"/>
            <a:pathLst>
              <a:path extrusionOk="0" h="5913163" w="9896507">
                <a:moveTo>
                  <a:pt x="0" y="0"/>
                </a:moveTo>
                <a:lnTo>
                  <a:pt x="9896507" y="0"/>
                </a:lnTo>
                <a:lnTo>
                  <a:pt x="9896507" y="5913163"/>
                </a:lnTo>
                <a:lnTo>
                  <a:pt x="0" y="59131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0" name="Google Shape;120;p4"/>
          <p:cNvSpPr/>
          <p:nvPr/>
        </p:nvSpPr>
        <p:spPr>
          <a:xfrm>
            <a:off x="3493371" y="-625307"/>
            <a:ext cx="11301259" cy="5127946"/>
          </a:xfrm>
          <a:custGeom>
            <a:rect b="b" l="l" r="r" t="t"/>
            <a:pathLst>
              <a:path extrusionOk="0" h="5127946" w="11301259">
                <a:moveTo>
                  <a:pt x="0" y="0"/>
                </a:moveTo>
                <a:lnTo>
                  <a:pt x="11301258" y="0"/>
                </a:lnTo>
                <a:lnTo>
                  <a:pt x="11301258" y="5127946"/>
                </a:lnTo>
                <a:lnTo>
                  <a:pt x="0" y="51279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1" name="Google Shape;121;p4"/>
          <p:cNvSpPr/>
          <p:nvPr/>
        </p:nvSpPr>
        <p:spPr>
          <a:xfrm>
            <a:off x="4875920" y="4090230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p4"/>
          <p:cNvSpPr txBox="1"/>
          <p:nvPr/>
        </p:nvSpPr>
        <p:spPr>
          <a:xfrm>
            <a:off x="5700000" y="4328160"/>
            <a:ext cx="81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600">
                <a:solidFill>
                  <a:srgbClr val="000000"/>
                </a:solidFill>
                <a:latin typeface="Open Sans"/>
              </a:rPr>
              <a:t>¿Qué es un algoritmo y qué características tiene?</a:t>
            </a:r>
          </a:p>
        </p:txBody>
      </p:sp>
      <p:sp>
        <p:nvSpPr>
          <p:cNvPr id="123" name="Google Shape;123;p4"/>
          <p:cNvSpPr/>
          <p:nvPr/>
        </p:nvSpPr>
        <p:spPr>
          <a:xfrm>
            <a:off x="4875920" y="5143500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4"/>
          <p:cNvSpPr txBox="1"/>
          <p:nvPr/>
        </p:nvSpPr>
        <p:spPr>
          <a:xfrm>
            <a:off x="5700000" y="5379556"/>
            <a:ext cx="81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600">
                <a:solidFill>
                  <a:srgbClr val="000000"/>
                </a:solidFill>
                <a:latin typeface="Open Sans"/>
              </a:rPr>
              <a:t>Instrucciones y estructura en PSeInt</a:t>
            </a:r>
          </a:p>
        </p:txBody>
      </p:sp>
      <p:sp>
        <p:nvSpPr>
          <p:cNvPr id="125" name="Google Shape;125;p4"/>
          <p:cNvSpPr/>
          <p:nvPr/>
        </p:nvSpPr>
        <p:spPr>
          <a:xfrm>
            <a:off x="4875920" y="6194896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6" name="Google Shape;126;p4"/>
          <p:cNvSpPr/>
          <p:nvPr/>
        </p:nvSpPr>
        <p:spPr>
          <a:xfrm>
            <a:off x="4875920" y="7248315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7" name="Google Shape;127;p4"/>
          <p:cNvSpPr/>
          <p:nvPr/>
        </p:nvSpPr>
        <p:spPr>
          <a:xfrm>
            <a:off x="4875920" y="8301734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8" name="Google Shape;128;p4"/>
          <p:cNvSpPr txBox="1"/>
          <p:nvPr/>
        </p:nvSpPr>
        <p:spPr>
          <a:xfrm>
            <a:off x="5700000" y="6385396"/>
            <a:ext cx="81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600">
                <a:solidFill>
                  <a:srgbClr val="000000"/>
                </a:solidFill>
                <a:latin typeface="Open Sans"/>
              </a:rPr>
              <a:t>Variables y constantes</a:t>
            </a:r>
          </a:p>
        </p:txBody>
      </p:sp>
      <p:sp>
        <p:nvSpPr>
          <p:cNvPr id="129" name="Google Shape;129;p4"/>
          <p:cNvSpPr txBox="1"/>
          <p:nvPr/>
        </p:nvSpPr>
        <p:spPr>
          <a:xfrm>
            <a:off x="5700000" y="7391236"/>
            <a:ext cx="81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600">
                <a:solidFill>
                  <a:srgbClr val="000000"/>
                </a:solidFill>
                <a:latin typeface="Open Sans"/>
              </a:rPr>
              <a:t>Tipos de datos</a:t>
            </a:r>
          </a:p>
        </p:txBody>
      </p:sp>
      <p:sp>
        <p:nvSpPr>
          <p:cNvPr id="130" name="Google Shape;130;p4"/>
          <p:cNvSpPr txBox="1"/>
          <p:nvPr/>
        </p:nvSpPr>
        <p:spPr>
          <a:xfrm>
            <a:off x="5700000" y="8444701"/>
            <a:ext cx="81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600">
                <a:solidFill>
                  <a:srgbClr val="000000"/>
                </a:solidFill>
                <a:latin typeface="Open Sans"/>
              </a:rPr>
              <a:t>Expresiones, operadores y actividad (2 pts)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/>
          <p:nvPr/>
        </p:nvSpPr>
        <p:spPr>
          <a:xfrm>
            <a:off x="0" y="0"/>
            <a:ext cx="18288000" cy="10447020"/>
          </a:xfrm>
          <a:custGeom>
            <a:rect b="b" l="l" r="r" t="t"/>
            <a:pathLst>
              <a:path extrusionOk="0" h="10447020" w="18288000">
                <a:moveTo>
                  <a:pt x="0" y="0"/>
                </a:moveTo>
                <a:lnTo>
                  <a:pt x="18288000" y="0"/>
                </a:lnTo>
                <a:lnTo>
                  <a:pt x="18288000" y="10447020"/>
                </a:lnTo>
                <a:lnTo>
                  <a:pt x="0" y="104470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6" name="Google Shape;136;p5"/>
          <p:cNvSpPr/>
          <p:nvPr/>
        </p:nvSpPr>
        <p:spPr>
          <a:xfrm>
            <a:off x="2888408" y="2581776"/>
            <a:ext cx="12511183" cy="3424936"/>
          </a:xfrm>
          <a:custGeom>
            <a:rect b="b" l="l" r="r" t="t"/>
            <a:pathLst>
              <a:path extrusionOk="0" h="3424936" w="12511183">
                <a:moveTo>
                  <a:pt x="0" y="0"/>
                </a:moveTo>
                <a:lnTo>
                  <a:pt x="12511184" y="0"/>
                </a:lnTo>
                <a:lnTo>
                  <a:pt x="12511184" y="3424937"/>
                </a:lnTo>
                <a:lnTo>
                  <a:pt x="0" y="3424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5"/>
          <p:cNvSpPr txBox="1"/>
          <p:nvPr/>
        </p:nvSpPr>
        <p:spPr>
          <a:xfrm>
            <a:off x="5100000" y="2850000"/>
            <a:ext cx="10000000" cy="29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b="1" sz="2800">
                <a:solidFill>
                  <a:srgbClr val="000000"/>
                </a:solidFill>
                <a:latin typeface="Open Sans"/>
              </a:rPr>
              <a:t>Competencia Específica:</a:t>
            </a:r>
            <a:r>
              <a:rPr b="0" sz="2800">
                <a:solidFill>
                  <a:srgbClr val="000000"/>
                </a:solidFill>
                <a:latin typeface="Open Sans"/>
              </a:rPr>
              <a:t> Crea algoritmos para resolver problemas secuenciales, condicionales y repetitivos mediante estructuras de control representadas con pseudocódigo para producir soluciones correctas, legibles y verificables de acuerdo con los resultados esperados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/>
          <p:nvPr/>
        </p:nvSpPr>
        <p:spPr>
          <a:xfrm>
            <a:off x="5616573" y="654273"/>
            <a:ext cx="7054854" cy="1553923"/>
          </a:xfrm>
          <a:custGeom>
            <a:rect b="b" l="l" r="r" t="t"/>
            <a:pathLst>
              <a:path extrusionOk="0" h="1553923" w="7054854">
                <a:moveTo>
                  <a:pt x="0" y="0"/>
                </a:moveTo>
                <a:lnTo>
                  <a:pt x="7054854" y="0"/>
                </a:lnTo>
                <a:lnTo>
                  <a:pt x="7054854" y="1553923"/>
                </a:lnTo>
                <a:lnTo>
                  <a:pt x="0" y="1553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0664" r="-29526" t="0"/>
            </a:stretch>
          </a:blipFill>
          <a:ln>
            <a:noFill/>
          </a:ln>
        </p:spPr>
      </p:sp>
      <p:sp>
        <p:nvSpPr>
          <p:cNvPr id="144" name="Google Shape;144;p8"/>
          <p:cNvSpPr txBox="1"/>
          <p:nvPr/>
        </p:nvSpPr>
        <p:spPr>
          <a:xfrm>
            <a:off x="2414359" y="2700000"/>
            <a:ext cx="13459282" cy="6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47040" lvl="1" marL="447040" marR="0" rtl="0" algn="l">
              <a:lnSpc>
                <a:spcPct val="140000"/>
              </a:lnSpc>
              <a:spcBef>
                <a:spcPts val="0"/>
              </a:spcBef>
              <a:spcAft>
                <a:spcPts val="1800"/>
              </a:spcAft>
              <a:buFont typeface="Arial"/>
              <a:buChar char="•"/>
            </a:pPr>
            <a:r>
              <a:rPr b="1" sz="3200">
                <a:solidFill>
                  <a:srgbClr val="000000"/>
                </a:solidFill>
                <a:latin typeface="Open Sans"/>
              </a:rPr>
              <a:t>Orden y claridad</a:t>
            </a:r>
          </a:p>
          <a:p>
            <a:pPr indent="-447040" lvl="1" marL="447040" marR="0" rtl="0" algn="l">
              <a:lnSpc>
                <a:spcPct val="140000"/>
              </a:lnSpc>
              <a:spcBef>
                <a:spcPts val="0"/>
              </a:spcBef>
              <a:spcAft>
                <a:spcPts val="1800"/>
              </a:spcAft>
              <a:buFont typeface="Arial"/>
              <a:buChar char="•"/>
            </a:pPr>
            <a:r>
              <a:rPr b="0" sz="3200">
                <a:solidFill>
                  <a:srgbClr val="000000"/>
                </a:solidFill>
                <a:latin typeface="Open Sans"/>
              </a:rPr>
              <a:t>Nombrar y organizar cada elemento de un algoritmo (variables, constantes, expresiones, operadores) de forma cohesiva y comprensible, para que cualquier persona pueda seguir la lógica sin ambigüedades.</a:t>
            </a:r>
          </a:p>
          <a:p>
            <a:pPr indent="-447040" lvl="1" marL="447040" marR="0" rtl="0" algn="l">
              <a:lnSpc>
                <a:spcPct val="140000"/>
              </a:lnSpc>
              <a:spcBef>
                <a:spcPts val="0"/>
              </a:spcBef>
              <a:spcAft>
                <a:spcPts val="1800"/>
              </a:spcAft>
              <a:buFont typeface="Arial"/>
              <a:buChar char="•"/>
            </a:pPr>
            <a:r>
              <a:rPr b="1" sz="3200">
                <a:solidFill>
                  <a:srgbClr val="000000"/>
                </a:solidFill>
                <a:latin typeface="Open Sans"/>
              </a:rPr>
              <a:t>¿Cómo lo aplicamos hoy?</a:t>
            </a:r>
            <a:r>
              <a:rPr b="0" sz="3200">
                <a:solidFill>
                  <a:srgbClr val="000000"/>
                </a:solidFill>
                <a:latin typeface="Open Sans"/>
              </a:rPr>
              <a:t> Al definir variables, constantes, tipos, expresiones y operadores, el orden y la claridad evitan errores de interpretación y facilitan que otros revisen o continúen el trabajo.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"/>
          <p:cNvSpPr txBox="1"/>
          <p:nvPr/>
        </p:nvSpPr>
        <p:spPr>
          <a:xfrm>
            <a:off x="700000" y="450000"/>
            <a:ext cx="169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Definición y características de un algoritmo</a:t>
            </a:r>
          </a:p>
        </p:txBody>
      </p:sp>
      <p:sp>
        <p:nvSpPr>
          <p:cNvPr id="150" name="Google Shape;150;p6"/>
          <p:cNvSpPr txBox="1"/>
          <p:nvPr/>
        </p:nvSpPr>
        <p:spPr>
          <a:xfrm>
            <a:off x="900000" y="1900000"/>
            <a:ext cx="16400000" cy="4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5280" lvl="0" marL="33528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2400">
                <a:solidFill>
                  <a:srgbClr val="000000"/>
                </a:solidFill>
                <a:latin typeface="Open Sans"/>
              </a:rPr>
              <a:t>Algoritmo:</a:t>
            </a:r>
            <a:r>
              <a:rPr b="0" sz="2400">
                <a:solidFill>
                  <a:srgbClr val="000000"/>
                </a:solidFill>
                <a:latin typeface="Open Sans"/>
              </a:rPr>
              <a:t> secuencia </a:t>
            </a:r>
            <a:r>
              <a:rPr b="1" sz="2400">
                <a:solidFill>
                  <a:srgbClr val="000000"/>
                </a:solidFill>
                <a:latin typeface="Open Sans"/>
              </a:rPr>
              <a:t>finita</a:t>
            </a:r>
            <a:r>
              <a:rPr b="0" sz="2400">
                <a:solidFill>
                  <a:srgbClr val="000000"/>
                </a:solidFill>
                <a:latin typeface="Open Sans"/>
              </a:rPr>
              <a:t>, </a:t>
            </a:r>
            <a:r>
              <a:rPr b="1" sz="2400">
                <a:solidFill>
                  <a:srgbClr val="000000"/>
                </a:solidFill>
                <a:latin typeface="Open Sans"/>
              </a:rPr>
              <a:t>ordenada</a:t>
            </a:r>
            <a:r>
              <a:rPr b="0" sz="2400">
                <a:solidFill>
                  <a:srgbClr val="000000"/>
                </a:solidFill>
                <a:latin typeface="Open Sans"/>
              </a:rPr>
              <a:t> y </a:t>
            </a:r>
            <a:r>
              <a:rPr b="1" sz="2400">
                <a:solidFill>
                  <a:srgbClr val="000000"/>
                </a:solidFill>
                <a:latin typeface="Open Sans"/>
              </a:rPr>
              <a:t>no ambigua</a:t>
            </a:r>
            <a:r>
              <a:rPr b="0" sz="2400">
                <a:solidFill>
                  <a:srgbClr val="000000"/>
                </a:solidFill>
                <a:latin typeface="Open Sans"/>
              </a:rPr>
              <a:t> de pasos para resolver un problema.</a:t>
            </a:r>
          </a:p>
          <a:p>
            <a:pPr indent="-335280" lvl="0" marL="33528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Características: </a:t>
            </a:r>
            <a:r>
              <a:rPr b="1" sz="2400">
                <a:solidFill>
                  <a:srgbClr val="000000"/>
                </a:solidFill>
                <a:latin typeface="Open Sans"/>
              </a:rPr>
              <a:t>preciso</a:t>
            </a:r>
            <a:r>
              <a:rPr b="0" sz="2400">
                <a:solidFill>
                  <a:srgbClr val="000000"/>
                </a:solidFill>
                <a:latin typeface="Open Sans"/>
              </a:rPr>
              <a:t>, </a:t>
            </a:r>
            <a:r>
              <a:rPr b="1" sz="2400">
                <a:solidFill>
                  <a:srgbClr val="000000"/>
                </a:solidFill>
                <a:latin typeface="Open Sans"/>
              </a:rPr>
              <a:t>definido</a:t>
            </a:r>
            <a:r>
              <a:rPr b="0" sz="2400">
                <a:solidFill>
                  <a:srgbClr val="000000"/>
                </a:solidFill>
                <a:latin typeface="Open Sans"/>
              </a:rPr>
              <a:t>, </a:t>
            </a:r>
            <a:r>
              <a:rPr b="1" sz="2400">
                <a:solidFill>
                  <a:srgbClr val="000000"/>
                </a:solidFill>
                <a:latin typeface="Open Sans"/>
              </a:rPr>
              <a:t>finito</a:t>
            </a:r>
            <a:r>
              <a:rPr b="0" sz="2400">
                <a:solidFill>
                  <a:srgbClr val="000000"/>
                </a:solidFill>
                <a:latin typeface="Open Sans"/>
              </a:rPr>
              <a:t>, con </a:t>
            </a:r>
            <a:r>
              <a:rPr b="1" sz="2400">
                <a:solidFill>
                  <a:srgbClr val="000000"/>
                </a:solidFill>
                <a:latin typeface="Open Sans"/>
              </a:rPr>
              <a:t>entradas</a:t>
            </a:r>
            <a:r>
              <a:rPr b="0" sz="2400">
                <a:solidFill>
                  <a:srgbClr val="000000"/>
                </a:solidFill>
                <a:latin typeface="Open Sans"/>
              </a:rPr>
              <a:t> y </a:t>
            </a:r>
            <a:r>
              <a:rPr b="1" sz="2400">
                <a:solidFill>
                  <a:srgbClr val="000000"/>
                </a:solidFill>
                <a:latin typeface="Open Sans"/>
              </a:rPr>
              <a:t>salidas</a:t>
            </a:r>
            <a:r>
              <a:rPr b="0" sz="2400">
                <a:solidFill>
                  <a:srgbClr val="000000"/>
                </a:solidFill>
                <a:latin typeface="Open Sans"/>
              </a:rPr>
              <a:t>.</a:t>
            </a:r>
          </a:p>
          <a:p>
            <a:pPr indent="-335280" lvl="0" marL="33528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Se representa con </a:t>
            </a:r>
            <a:r>
              <a:rPr b="1" sz="2400">
                <a:solidFill>
                  <a:srgbClr val="000000"/>
                </a:solidFill>
                <a:latin typeface="Open Sans"/>
              </a:rPr>
              <a:t>pseudocódigo</a:t>
            </a:r>
            <a:r>
              <a:rPr b="0" sz="2400">
                <a:solidFill>
                  <a:srgbClr val="000000"/>
                </a:solidFill>
                <a:latin typeface="Open Sans"/>
              </a:rPr>
              <a:t> o </a:t>
            </a:r>
            <a:r>
              <a:rPr b="1" sz="2400">
                <a:solidFill>
                  <a:srgbClr val="000000"/>
                </a:solidFill>
                <a:latin typeface="Open Sans"/>
              </a:rPr>
              <a:t>diagramas de flujo</a:t>
            </a:r>
            <a:r>
              <a:rPr b="0" sz="2400">
                <a:solidFill>
                  <a:srgbClr val="000000"/>
                </a:solidFill>
                <a:latin typeface="Open Sans"/>
              </a:rPr>
              <a:t>.</a:t>
            </a:r>
          </a:p>
          <a:p>
            <a:pPr indent="-335280" lvl="0" marL="33528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Ejemplo cotidiano: una receta de cocina.</a:t>
            </a:r>
          </a:p>
        </p:txBody>
      </p:sp>
      <p:pic>
        <p:nvPicPr>
          <p:cNvPr id="151" name="Picture 150" descr="f6_simbol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4000" y="6039581"/>
            <a:ext cx="11000000" cy="38974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/>
          <p:nvPr/>
        </p:nvSpPr>
        <p:spPr>
          <a:xfrm>
            <a:off x="3493371" y="547445"/>
            <a:ext cx="11301259" cy="1553923"/>
          </a:xfrm>
          <a:custGeom>
            <a:rect b="b" l="l" r="r" t="t"/>
            <a:pathLst>
              <a:path extrusionOk="0" h="1553923" w="11301259">
                <a:moveTo>
                  <a:pt x="0" y="0"/>
                </a:moveTo>
                <a:lnTo>
                  <a:pt x="11301258" y="0"/>
                </a:lnTo>
                <a:lnTo>
                  <a:pt x="11301258" y="1553923"/>
                </a:lnTo>
                <a:lnTo>
                  <a:pt x="0" y="1553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0" name="Google Shape;160;p7"/>
          <p:cNvSpPr/>
          <p:nvPr/>
        </p:nvSpPr>
        <p:spPr>
          <a:xfrm>
            <a:off x="1967873" y="2798489"/>
            <a:ext cx="14352253" cy="5956185"/>
          </a:xfrm>
          <a:custGeom>
            <a:rect b="b" l="l" r="r" t="t"/>
            <a:pathLst>
              <a:path extrusionOk="0" h="5956185" w="14352253">
                <a:moveTo>
                  <a:pt x="0" y="0"/>
                </a:moveTo>
                <a:lnTo>
                  <a:pt x="14352254" y="0"/>
                </a:lnTo>
                <a:lnTo>
                  <a:pt x="14352254" y="5956185"/>
                </a:lnTo>
                <a:lnTo>
                  <a:pt x="0" y="59561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7"/>
          <p:cNvSpPr txBox="1"/>
          <p:nvPr/>
        </p:nvSpPr>
        <p:spPr>
          <a:xfrm>
            <a:off x="2350000" y="3000000"/>
            <a:ext cx="13600000" cy="5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63220" lvl="1" marL="36322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Algoritmo</a:t>
            </a:r>
            <a:r>
              <a:rPr b="0" sz="2600">
                <a:solidFill>
                  <a:srgbClr val="000000"/>
                </a:solidFill>
                <a:latin typeface="Open Sans"/>
              </a:rPr>
              <a:t> = pasos finitos, ordenados y no ambiguos.</a:t>
            </a:r>
          </a:p>
          <a:p>
            <a:pPr indent="-363220" lvl="1" marL="36322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Variable</a:t>
            </a:r>
            <a:r>
              <a:rPr b="0" sz="2600">
                <a:solidFill>
                  <a:srgbClr val="000000"/>
                </a:solidFill>
                <a:latin typeface="Open Sans"/>
              </a:rPr>
              <a:t> cambia; </a:t>
            </a:r>
            <a:r>
              <a:rPr b="1" sz="2600">
                <a:solidFill>
                  <a:srgbClr val="000000"/>
                </a:solidFill>
                <a:latin typeface="Open Sans"/>
              </a:rPr>
              <a:t>constante</a:t>
            </a:r>
            <a:r>
              <a:rPr b="0" sz="2600">
                <a:solidFill>
                  <a:srgbClr val="000000"/>
                </a:solidFill>
                <a:latin typeface="Open Sans"/>
              </a:rPr>
              <a:t> no cambia.</a:t>
            </a:r>
          </a:p>
          <a:p>
            <a:pPr indent="-363220" lvl="1" marL="36322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Tipos:</a:t>
            </a:r>
            <a:r>
              <a:rPr b="0" sz="2600">
                <a:solidFill>
                  <a:srgbClr val="000000"/>
                </a:solidFill>
                <a:latin typeface="Open Sans"/>
              </a:rPr>
              <a:t> Entero, Real, Cadena, Logico.</a:t>
            </a:r>
          </a:p>
          <a:p>
            <a:pPr indent="-363220" lvl="1" marL="36322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Operadores:</a:t>
            </a:r>
            <a:r>
              <a:rPr b="0" sz="2600">
                <a:solidFill>
                  <a:srgbClr val="000000"/>
                </a:solidFill>
                <a:latin typeface="Open Sans"/>
              </a:rPr>
              <a:t> aritméticos, relacionales y lógicos.</a:t>
            </a:r>
          </a:p>
          <a:p>
            <a:pPr indent="-363220" lvl="1" marL="36322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Nombres descriptivos</a:t>
            </a:r>
            <a:r>
              <a:rPr b="0" sz="2600">
                <a:solidFill>
                  <a:srgbClr val="000000"/>
                </a:solidFill>
                <a:latin typeface="Open Sans"/>
              </a:rPr>
              <a:t> hacen legible el algoritmo.</a:t>
            </a:r>
          </a:p>
          <a:p>
            <a:pPr indent="-363220" lvl="1" marL="36322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Leer → procesar → escribir</a:t>
            </a:r>
            <a:r>
              <a:rPr b="0" sz="2600">
                <a:solidFill>
                  <a:srgbClr val="000000"/>
                </a:solidFill>
                <a:latin typeface="Open Sans"/>
              </a:rPr>
              <a:t> es la estructura básica.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"/>
          <p:cNvSpPr/>
          <p:nvPr/>
        </p:nvSpPr>
        <p:spPr>
          <a:xfrm>
            <a:off x="2317017" y="520965"/>
            <a:ext cx="13653966" cy="1873953"/>
          </a:xfrm>
          <a:custGeom>
            <a:rect b="b" l="l" r="r" t="t"/>
            <a:pathLst>
              <a:path extrusionOk="0" h="1873953" w="13653966">
                <a:moveTo>
                  <a:pt x="0" y="0"/>
                </a:moveTo>
                <a:lnTo>
                  <a:pt x="13653966" y="0"/>
                </a:lnTo>
                <a:lnTo>
                  <a:pt x="13653966" y="1873953"/>
                </a:lnTo>
                <a:lnTo>
                  <a:pt x="0" y="18739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7" name="Google Shape;167;p9"/>
          <p:cNvSpPr/>
          <p:nvPr/>
        </p:nvSpPr>
        <p:spPr>
          <a:xfrm>
            <a:off x="1989089" y="2422796"/>
            <a:ext cx="14309822" cy="6206885"/>
          </a:xfrm>
          <a:custGeom>
            <a:rect b="b" l="l" r="r" t="t"/>
            <a:pathLst>
              <a:path extrusionOk="0" h="6206885" w="14309822">
                <a:moveTo>
                  <a:pt x="0" y="0"/>
                </a:moveTo>
                <a:lnTo>
                  <a:pt x="14309822" y="0"/>
                </a:lnTo>
                <a:lnTo>
                  <a:pt x="14309822" y="6206885"/>
                </a:lnTo>
                <a:lnTo>
                  <a:pt x="0" y="62068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p9"/>
          <p:cNvSpPr txBox="1"/>
          <p:nvPr/>
        </p:nvSpPr>
        <p:spPr>
          <a:xfrm>
            <a:off x="2500000" y="2700000"/>
            <a:ext cx="13300000" cy="57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79400" lvl="0" marL="27940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0" sz="2000">
                <a:solidFill>
                  <a:srgbClr val="000000"/>
                </a:solidFill>
                <a:latin typeface="Open Sans"/>
              </a:rPr>
              <a:t>Joyanes Aguilar, L. (2008). Fundamentos de programación: algoritmos, estructuras de datos y objetos (4.ª ed.). McGraw-Hill.</a:t>
            </a:r>
          </a:p>
          <a:p>
            <a:pPr indent="-279400" lvl="0" marL="27940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0" sz="2000">
                <a:solidFill>
                  <a:srgbClr val="000000"/>
                </a:solidFill>
                <a:latin typeface="Open Sans"/>
              </a:rPr>
              <a:t>Cairó, O. (2005). Metodología de la programación. Alfaomega.</a:t>
            </a:r>
          </a:p>
          <a:p>
            <a:pPr indent="-279400" lvl="0" marL="27940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0" sz="2000">
                <a:solidFill>
                  <a:srgbClr val="000000"/>
                </a:solidFill>
                <a:latin typeface="Open Sans"/>
              </a:rPr>
              <a:t>PSeInt – Ayuda oficial: https://pseint.sourceforge.net/</a:t>
            </a:r>
          </a:p>
          <a:p>
            <a:pPr indent="-279400" lvl="0" marL="27940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0" sz="2000">
                <a:solidFill>
                  <a:srgbClr val="000000"/>
                </a:solidFill>
                <a:latin typeface="Open Sans"/>
              </a:rPr>
              <a:t>Carlisle, M. RAPTOR: https://raptor.martincarlisle.com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"/>
          <p:cNvSpPr/>
          <p:nvPr/>
        </p:nvSpPr>
        <p:spPr>
          <a:xfrm>
            <a:off x="0" y="0"/>
            <a:ext cx="18288000" cy="7292340"/>
          </a:xfrm>
          <a:custGeom>
            <a:rect b="b" l="l" r="r" t="t"/>
            <a:pathLst>
              <a:path extrusionOk="0" h="7292340" w="18288000">
                <a:moveTo>
                  <a:pt x="0" y="0"/>
                </a:moveTo>
                <a:lnTo>
                  <a:pt x="18288000" y="0"/>
                </a:lnTo>
                <a:lnTo>
                  <a:pt x="18288000" y="7292340"/>
                </a:lnTo>
                <a:lnTo>
                  <a:pt x="0" y="72923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4" name="TextBox 173"/>
          <p:cNvSpPr txBox="1"/>
          <p:nvPr/>
        </p:nvSpPr>
        <p:spPr>
          <a:xfrm>
            <a:off x="900000" y="7450000"/>
            <a:ext cx="16500000" cy="260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800"/>
              </a:spcAft>
            </a:pPr>
            <a:r>
              <a:rPr b="1" sz="2800">
                <a:solidFill>
                  <a:srgbClr val="000000"/>
                </a:solidFill>
                <a:latin typeface="Open Sans"/>
              </a:rPr>
              <a:t>Ejercicio demostrativo: Primer algoritmo en PSeInt (área del círculo)</a:t>
            </a:r>
            <a:r>
              <a:rPr b="0" sz="2800">
                <a:solidFill>
                  <a:srgbClr val="000000"/>
                </a:solidFill>
                <a:latin typeface="Open Sans"/>
              </a:rPr>
              <a:t>  ·  14 min</a:t>
            </a:r>
          </a:p>
          <a:p>
            <a:pPr algn="ctr">
              <a:spcAft>
                <a:spcPts val="800"/>
              </a:spcAft>
            </a:pPr>
            <a:r>
              <a:rPr b="0" sz="2800">
                <a:solidFill>
                  <a:srgbClr val="000000"/>
                </a:solidFill>
                <a:latin typeface="Open Sans"/>
              </a:rPr>
              <a:t>Declaramos variables y una constante, leemos un dato, aplicamos una expresión y mostramos el resultado.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TextBox 182"/>
          <p:cNvSpPr txBox="1"/>
          <p:nvPr/>
        </p:nvSpPr>
        <p:spPr>
          <a:xfrm>
            <a:off x="900000" y="6500000"/>
            <a:ext cx="16500000" cy="350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800"/>
              </a:spcAft>
            </a:pPr>
            <a:r>
              <a:rPr b="1" sz="2600">
                <a:solidFill>
                  <a:srgbClr val="000000"/>
                </a:solidFill>
                <a:latin typeface="Open Sans"/>
              </a:rPr>
              <a:t>Actividad: Identificar y declarar los elementos de un algoritmo</a:t>
            </a:r>
            <a:r>
              <a:rPr b="0" sz="2600">
                <a:solidFill>
                  <a:srgbClr val="000000"/>
                </a:solidFill>
                <a:latin typeface="Open Sans"/>
              </a:rPr>
              <a:t>  ·  50 min  ·  Ponderación: 2 puntos</a:t>
            </a:r>
          </a:p>
          <a:p>
            <a:pPr algn="l">
              <a:spcAft>
                <a:spcPts val="800"/>
              </a:spcAft>
            </a:pPr>
            <a:r>
              <a:rPr b="0" sz="2600">
                <a:solidFill>
                  <a:srgbClr val="000000"/>
                </a:solidFill>
                <a:latin typeface="Open Sans"/>
              </a:rPr>
              <a:t>• Analizar ejemplos de pseudocódigo e identificar variables, constantes, tipos, expresiones y operadores.</a:t>
            </a:r>
          </a:p>
          <a:p>
            <a:pPr algn="l">
              <a:spcAft>
                <a:spcPts val="800"/>
              </a:spcAft>
            </a:pPr>
            <a:r>
              <a:rPr b="0" sz="2600">
                <a:solidFill>
                  <a:srgbClr val="000000"/>
                </a:solidFill>
                <a:latin typeface="Open Sans"/>
              </a:rPr>
              <a:t>• Escribir un algoritmo sencillo declarando correctamente cada elemento.</a:t>
            </a:r>
          </a:p>
          <a:p>
            <a:pPr algn="l">
              <a:spcAft>
                <a:spcPts val="800"/>
              </a:spcAft>
            </a:pPr>
            <a:r>
              <a:rPr b="0" sz="2600">
                <a:solidFill>
                  <a:srgbClr val="000000"/>
                </a:solidFill>
                <a:latin typeface="Open Sans"/>
              </a:rPr>
              <a:t>• Actividad 2 (optativa): algoritmo propio revisado por un compañero.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"/>
          <p:cNvSpPr/>
          <p:nvPr/>
        </p:nvSpPr>
        <p:spPr>
          <a:xfrm>
            <a:off x="0" y="0"/>
            <a:ext cx="18288000" cy="10264140"/>
          </a:xfrm>
          <a:custGeom>
            <a:rect b="b" l="l" r="r" t="t"/>
            <a:pathLst>
              <a:path extrusionOk="0" h="10264140" w="18288000">
                <a:moveTo>
                  <a:pt x="0" y="0"/>
                </a:moveTo>
                <a:lnTo>
                  <a:pt x="18288000" y="0"/>
                </a:lnTo>
                <a:lnTo>
                  <a:pt x="18288000" y="10264140"/>
                </a:lnTo>
                <a:lnTo>
                  <a:pt x="0" y="10264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2" name="Google Shape;192;p12"/>
          <p:cNvSpPr txBox="1"/>
          <p:nvPr/>
        </p:nvSpPr>
        <p:spPr>
          <a:xfrm>
            <a:off x="5600000" y="1667078"/>
            <a:ext cx="4700000" cy="481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sz="1800">
                <a:solidFill>
                  <a:srgbClr val="000000"/>
                </a:solidFill>
                <a:latin typeface="Open Sans"/>
              </a:rPr>
              <a:t>Actividad: Identificar y declarar los elementos de un algoritmo</a:t>
            </a:r>
          </a:p>
        </p:txBody>
      </p:sp>
      <p:sp>
        <p:nvSpPr>
          <p:cNvPr id="193" name="Google Shape;193;p12"/>
          <p:cNvSpPr txBox="1"/>
          <p:nvPr/>
        </p:nvSpPr>
        <p:spPr>
          <a:xfrm>
            <a:off x="5655069" y="246044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194" name="Google Shape;194;p12"/>
          <p:cNvSpPr txBox="1"/>
          <p:nvPr/>
        </p:nvSpPr>
        <p:spPr>
          <a:xfrm>
            <a:off x="5655069" y="3475309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sz="2000">
                <a:solidFill>
                  <a:srgbClr val="000000"/>
                </a:solidFill>
                <a:latin typeface="Open Sans"/>
              </a:rPr>
              <a:t>Sí</a:t>
            </a:r>
          </a:p>
        </p:txBody>
      </p:sp>
      <p:sp>
        <p:nvSpPr>
          <p:cNvPr id="195" name="Google Shape;195;p12"/>
          <p:cNvSpPr txBox="1"/>
          <p:nvPr/>
        </p:nvSpPr>
        <p:spPr>
          <a:xfrm>
            <a:off x="13953088" y="2091258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196" name="Google Shape;196;p12"/>
          <p:cNvSpPr txBox="1"/>
          <p:nvPr/>
        </p:nvSpPr>
        <p:spPr>
          <a:xfrm>
            <a:off x="13953088" y="288462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197" name="Google Shape;197;p12"/>
          <p:cNvSpPr txBox="1"/>
          <p:nvPr/>
        </p:nvSpPr>
        <p:spPr>
          <a:xfrm>
            <a:off x="13953088" y="368028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sz="2200">
                <a:solidFill>
                  <a:srgbClr val="000000"/>
                </a:solidFill>
                <a:latin typeface="Open Sans"/>
              </a:rPr>
              <a:t>50 min</a:t>
            </a:r>
          </a:p>
        </p:txBody>
      </p:sp>
      <p:sp>
        <p:nvSpPr>
          <p:cNvPr id="198" name="Google Shape;198;p12"/>
          <p:cNvSpPr txBox="1"/>
          <p:nvPr/>
        </p:nvSpPr>
        <p:spPr>
          <a:xfrm>
            <a:off x="277231" y="50863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199" name="Google Shape;199;p12"/>
          <p:cNvSpPr txBox="1"/>
          <p:nvPr/>
        </p:nvSpPr>
        <p:spPr>
          <a:xfrm>
            <a:off x="277231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0" name="Google Shape;200;p12"/>
          <p:cNvSpPr txBox="1"/>
          <p:nvPr/>
        </p:nvSpPr>
        <p:spPr>
          <a:xfrm>
            <a:off x="277231" y="662009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1" name="Google Shape;201;p12"/>
          <p:cNvSpPr txBox="1"/>
          <p:nvPr/>
        </p:nvSpPr>
        <p:spPr>
          <a:xfrm>
            <a:off x="277231" y="760040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2" name="Google Shape;202;p12"/>
          <p:cNvSpPr txBox="1"/>
          <p:nvPr/>
        </p:nvSpPr>
        <p:spPr>
          <a:xfrm>
            <a:off x="277231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3" name="Google Shape;203;p12"/>
          <p:cNvSpPr txBox="1"/>
          <p:nvPr/>
        </p:nvSpPr>
        <p:spPr>
          <a:xfrm>
            <a:off x="277231" y="92011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4" name="Google Shape;204;p12"/>
          <p:cNvSpPr txBox="1"/>
          <p:nvPr/>
        </p:nvSpPr>
        <p:spPr>
          <a:xfrm>
            <a:off x="6406538" y="50749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5" name="Google Shape;205;p12"/>
          <p:cNvSpPr txBox="1"/>
          <p:nvPr/>
        </p:nvSpPr>
        <p:spPr>
          <a:xfrm>
            <a:off x="6406538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6" name="Google Shape;206;p12"/>
          <p:cNvSpPr txBox="1"/>
          <p:nvPr/>
        </p:nvSpPr>
        <p:spPr>
          <a:xfrm>
            <a:off x="6406538" y="664866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7" name="Google Shape;207;p12"/>
          <p:cNvSpPr txBox="1"/>
          <p:nvPr/>
        </p:nvSpPr>
        <p:spPr>
          <a:xfrm>
            <a:off x="6406538" y="74443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8" name="Google Shape;208;p12"/>
          <p:cNvSpPr txBox="1"/>
          <p:nvPr/>
        </p:nvSpPr>
        <p:spPr>
          <a:xfrm>
            <a:off x="6406538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9" name="Google Shape;209;p12"/>
          <p:cNvSpPr txBox="1"/>
          <p:nvPr/>
        </p:nvSpPr>
        <p:spPr>
          <a:xfrm>
            <a:off x="6406538" y="92011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0" name="Google Shape;210;p12"/>
          <p:cNvSpPr txBox="1"/>
          <p:nvPr/>
        </p:nvSpPr>
        <p:spPr>
          <a:xfrm>
            <a:off x="12538626" y="50749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1" name="Google Shape;211;p12"/>
          <p:cNvSpPr txBox="1"/>
          <p:nvPr/>
        </p:nvSpPr>
        <p:spPr>
          <a:xfrm>
            <a:off x="12538626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2" name="Google Shape;212;p12"/>
          <p:cNvSpPr txBox="1"/>
          <p:nvPr/>
        </p:nvSpPr>
        <p:spPr>
          <a:xfrm>
            <a:off x="12538626" y="664866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3" name="Google Shape;213;p12"/>
          <p:cNvSpPr txBox="1"/>
          <p:nvPr/>
        </p:nvSpPr>
        <p:spPr>
          <a:xfrm>
            <a:off x="12538626" y="74443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4" name="Google Shape;214;p12"/>
          <p:cNvSpPr txBox="1"/>
          <p:nvPr/>
        </p:nvSpPr>
        <p:spPr>
          <a:xfrm>
            <a:off x="12538626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5" name="Google Shape;215;p12"/>
          <p:cNvSpPr txBox="1"/>
          <p:nvPr/>
        </p:nvSpPr>
        <p:spPr>
          <a:xfrm>
            <a:off x="12538626" y="916314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"/>
          <p:cNvSpPr/>
          <p:nvPr/>
        </p:nvSpPr>
        <p:spPr>
          <a:xfrm>
            <a:off x="3493371" y="-591537"/>
            <a:ext cx="11301259" cy="5113820"/>
          </a:xfrm>
          <a:custGeom>
            <a:rect b="b" l="l" r="r" t="t"/>
            <a:pathLst>
              <a:path extrusionOk="0" h="5113820" w="11301259">
                <a:moveTo>
                  <a:pt x="0" y="0"/>
                </a:moveTo>
                <a:lnTo>
                  <a:pt x="11301258" y="0"/>
                </a:lnTo>
                <a:lnTo>
                  <a:pt x="11301258" y="5113820"/>
                </a:lnTo>
                <a:lnTo>
                  <a:pt x="0" y="5113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1" name="Google Shape;221;p13"/>
          <p:cNvSpPr/>
          <p:nvPr/>
        </p:nvSpPr>
        <p:spPr>
          <a:xfrm>
            <a:off x="2197698" y="3492869"/>
            <a:ext cx="13892604" cy="5765431"/>
          </a:xfrm>
          <a:custGeom>
            <a:rect b="b" l="l" r="r" t="t"/>
            <a:pathLst>
              <a:path extrusionOk="0" h="5765431" w="13892604">
                <a:moveTo>
                  <a:pt x="0" y="0"/>
                </a:moveTo>
                <a:lnTo>
                  <a:pt x="13892604" y="0"/>
                </a:lnTo>
                <a:lnTo>
                  <a:pt x="13892604" y="5765431"/>
                </a:lnTo>
                <a:lnTo>
                  <a:pt x="0" y="57654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2" name="Google Shape;222;p13"/>
          <p:cNvSpPr txBox="1"/>
          <p:nvPr/>
        </p:nvSpPr>
        <p:spPr>
          <a:xfrm>
            <a:off x="2580394" y="3800000"/>
            <a:ext cx="13127212" cy="5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35280" lvl="1" marL="33528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Video de la semana (6 min): canal de YouTube del curso 768 – Algoritmos.</a:t>
            </a:r>
          </a:p>
          <a:p>
            <a:pPr indent="-335280" lvl="1" marL="33528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Lectura (10 min): «Anatomía de un algoritmo».</a:t>
            </a:r>
          </a:p>
          <a:p>
            <a:pPr indent="-335280" lvl="1" marL="33528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Descarga PSeInt: https://pseint.sourceforge.net</a:t>
            </a:r>
          </a:p>
          <a:p>
            <a:pPr indent="-335280" lvl="1" marL="33528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Tarea 3: entrega 30/08.</a:t>
            </a:r>
          </a:p>
          <a:p>
            <a:pPr indent="-335280" lvl="1" marL="33528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Práctica 2: asignada el 29/08.</a:t>
            </a:r>
          </a:p>
          <a:p>
            <a:pPr indent="-335280" lvl="1" marL="33528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Dudas: foro del curso en UEDI.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"/>
          <p:cNvSpPr/>
          <p:nvPr/>
        </p:nvSpPr>
        <p:spPr>
          <a:xfrm>
            <a:off x="3861682" y="595298"/>
            <a:ext cx="10564636" cy="8663002"/>
          </a:xfrm>
          <a:custGeom>
            <a:rect b="b" l="l" r="r" t="t"/>
            <a:pathLst>
              <a:path extrusionOk="0" h="8663002" w="10564636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"/>
          <p:cNvSpPr/>
          <p:nvPr/>
        </p:nvSpPr>
        <p:spPr>
          <a:xfrm>
            <a:off x="814445" y="0"/>
            <a:ext cx="16659109" cy="10287000"/>
          </a:xfrm>
          <a:custGeom>
            <a:rect b="b" l="l" r="r" t="t"/>
            <a:pathLst>
              <a:path extrusionOk="0" h="10287000" w="16659109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9" name="Google Shape;149;p6"/>
          <p:cNvSpPr txBox="1"/>
          <p:nvPr/>
        </p:nvSpPr>
        <p:spPr>
          <a:xfrm>
            <a:off x="700000" y="450000"/>
            <a:ext cx="169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Estructura de un algoritmo en PSeInt</a:t>
            </a:r>
          </a:p>
        </p:txBody>
      </p:sp>
      <p:sp>
        <p:nvSpPr>
          <p:cNvPr id="150" name="Google Shape;150;p6"/>
          <p:cNvSpPr txBox="1"/>
          <p:nvPr/>
        </p:nvSpPr>
        <p:spPr>
          <a:xfrm>
            <a:off x="900000" y="1900000"/>
            <a:ext cx="7900000" cy="7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2600">
                <a:solidFill>
                  <a:srgbClr val="B3261E"/>
                </a:solidFill>
                <a:latin typeface="Consolas"/>
              </a:rPr>
              <a:t>Proceso ... FinProceso</a:t>
            </a:r>
            <a:r>
              <a:rPr b="0" sz="2600">
                <a:solidFill>
                  <a:srgbClr val="000000"/>
                </a:solidFill>
                <a:latin typeface="Open Sans"/>
              </a:rPr>
              <a:t> delimita el algoritmo.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Entrada:</a:t>
            </a:r>
            <a:r>
              <a:rPr b="0" sz="2600">
                <a:solidFill>
                  <a:srgbClr val="000000"/>
                </a:solidFill>
                <a:latin typeface="Open Sans"/>
              </a:rPr>
              <a:t> </a:t>
            </a:r>
            <a:r>
              <a:rPr b="1" sz="2600">
                <a:solidFill>
                  <a:srgbClr val="B3261E"/>
                </a:solidFill>
                <a:latin typeface="Consolas"/>
              </a:rPr>
              <a:t>Leer</a:t>
            </a:r>
            <a:r>
              <a:rPr b="0" sz="2600">
                <a:solidFill>
                  <a:srgbClr val="000000"/>
                </a:solidFill>
                <a:latin typeface="Open Sans"/>
              </a:rPr>
              <a:t>. </a:t>
            </a:r>
            <a:r>
              <a:rPr b="1" sz="2600">
                <a:solidFill>
                  <a:srgbClr val="000000"/>
                </a:solidFill>
                <a:latin typeface="Open Sans"/>
              </a:rPr>
              <a:t>Salida:</a:t>
            </a:r>
            <a:r>
              <a:rPr b="0" sz="2600">
                <a:solidFill>
                  <a:srgbClr val="000000"/>
                </a:solidFill>
                <a:latin typeface="Open Sans"/>
              </a:rPr>
              <a:t> </a:t>
            </a:r>
            <a:r>
              <a:rPr b="1" sz="2600">
                <a:solidFill>
                  <a:srgbClr val="B3261E"/>
                </a:solidFill>
                <a:latin typeface="Consolas"/>
              </a:rPr>
              <a:t>Escribir</a:t>
            </a:r>
            <a:r>
              <a:rPr b="0" sz="2600">
                <a:solidFill>
                  <a:srgbClr val="000000"/>
                </a:solidFill>
                <a:latin typeface="Open Sans"/>
              </a:rPr>
              <a:t>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Asignación:</a:t>
            </a:r>
            <a:r>
              <a:rPr b="0" sz="2600">
                <a:solidFill>
                  <a:srgbClr val="000000"/>
                </a:solidFill>
                <a:latin typeface="Open Sans"/>
              </a:rPr>
              <a:t> </a:t>
            </a:r>
            <a:r>
              <a:rPr b="1" sz="2600">
                <a:solidFill>
                  <a:srgbClr val="B3261E"/>
                </a:solidFill>
                <a:latin typeface="Consolas"/>
              </a:rPr>
              <a:t>variable &lt;- valor</a:t>
            </a:r>
            <a:r>
              <a:rPr b="0" sz="2600">
                <a:solidFill>
                  <a:srgbClr val="000000"/>
                </a:solidFill>
                <a:latin typeface="Open Sans"/>
              </a:rPr>
              <a:t>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Los comentarios inician con </a:t>
            </a:r>
            <a:r>
              <a:rPr b="1" sz="2600">
                <a:solidFill>
                  <a:srgbClr val="B3261E"/>
                </a:solidFill>
                <a:latin typeface="Consolas"/>
              </a:rPr>
              <a:t>//</a:t>
            </a:r>
            <a:r>
              <a:rPr b="0" sz="2600">
                <a:solidFill>
                  <a:srgbClr val="000000"/>
                </a:solidFill>
                <a:latin typeface="Open Sans"/>
              </a:rPr>
              <a:t>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Cada instrucción es un paso claro y ejecutable.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9100000" y="1900000"/>
            <a:ext cx="8650000" cy="77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3B3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TextBox 151"/>
          <p:cNvSpPr txBox="1"/>
          <p:nvPr/>
        </p:nvSpPr>
        <p:spPr>
          <a:xfrm>
            <a:off x="9250000" y="1960000"/>
            <a:ext cx="8350000" cy="42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b="1" sz="1200">
                <a:solidFill>
                  <a:srgbClr val="F5A623"/>
                </a:solidFill>
                <a:latin typeface="Consolas"/>
              </a:rPr>
              <a:t>AreaCirculo.psc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250000" y="2360000"/>
            <a:ext cx="8350000" cy="716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66D9EF"/>
                </a:solidFill>
                <a:latin typeface="Consolas"/>
              </a:rPr>
              <a:t>Proceso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5C26B"/>
                </a:solidFill>
                <a:latin typeface="Consolas"/>
              </a:rPr>
              <a:t>AreaCirculo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</a:t>
            </a:r>
            <a:r>
              <a:rPr sz="2200">
                <a:solidFill>
                  <a:srgbClr val="66D9EF"/>
                </a:solidFill>
                <a:latin typeface="Consolas"/>
              </a:rPr>
              <a:t>Definir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radio</a:t>
            </a:r>
            <a:r>
              <a:rPr sz="2200">
                <a:solidFill>
                  <a:srgbClr val="F8F8F2"/>
                </a:solidFill>
                <a:latin typeface="Consolas"/>
              </a:rPr>
              <a:t>,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area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66D9EF"/>
                </a:solidFill>
                <a:latin typeface="Consolas"/>
              </a:rPr>
              <a:t>Como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66D9EF"/>
                </a:solidFill>
                <a:latin typeface="Consolas"/>
              </a:rPr>
              <a:t>Real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</a:t>
            </a:r>
            <a:r>
              <a:rPr sz="2200">
                <a:solidFill>
                  <a:srgbClr val="66D9EF"/>
                </a:solidFill>
                <a:latin typeface="Consolas"/>
              </a:rPr>
              <a:t>Definir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5C26B"/>
                </a:solidFill>
                <a:latin typeface="Consolas"/>
              </a:rPr>
              <a:t>PI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66D9EF"/>
                </a:solidFill>
                <a:latin typeface="Consolas"/>
              </a:rPr>
              <a:t>Como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66D9EF"/>
                </a:solidFill>
                <a:latin typeface="Consolas"/>
              </a:rPr>
              <a:t>Real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</a:t>
            </a:r>
            <a:r>
              <a:rPr sz="2200">
                <a:solidFill>
                  <a:srgbClr val="F5C26B"/>
                </a:solidFill>
                <a:latin typeface="Consolas"/>
              </a:rPr>
              <a:t>PI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&lt;</a:t>
            </a:r>
            <a:r>
              <a:rPr sz="2200">
                <a:solidFill>
                  <a:srgbClr val="F8F8F2"/>
                </a:solidFill>
                <a:latin typeface="Consolas"/>
              </a:rPr>
              <a:t>-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D971F"/>
                </a:solidFill>
                <a:latin typeface="Consolas"/>
              </a:rPr>
              <a:t>3.1416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</a:t>
            </a:r>
            <a:r>
              <a:rPr sz="2200">
                <a:solidFill>
                  <a:srgbClr val="66D9EF"/>
                </a:solidFill>
                <a:latin typeface="Consolas"/>
              </a:rPr>
              <a:t>Escribir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A6E22E"/>
                </a:solidFill>
                <a:latin typeface="Consolas"/>
              </a:rPr>
              <a:t>"Ingrese el radio:"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</a:t>
            </a:r>
            <a:r>
              <a:rPr sz="2200">
                <a:solidFill>
                  <a:srgbClr val="66D9EF"/>
                </a:solidFill>
                <a:latin typeface="Consolas"/>
              </a:rPr>
              <a:t>Leer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radio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</a:t>
            </a:r>
            <a:r>
              <a:rPr sz="2200">
                <a:solidFill>
                  <a:srgbClr val="F8F8F2"/>
                </a:solidFill>
                <a:latin typeface="Consolas"/>
              </a:rPr>
              <a:t>area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&lt;</a:t>
            </a:r>
            <a:r>
              <a:rPr sz="2200">
                <a:solidFill>
                  <a:srgbClr val="F8F8F2"/>
                </a:solidFill>
                <a:latin typeface="Consolas"/>
              </a:rPr>
              <a:t>-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5C26B"/>
                </a:solidFill>
                <a:latin typeface="Consolas"/>
              </a:rPr>
              <a:t>PI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*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radio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^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D971F"/>
                </a:solidFill>
                <a:latin typeface="Consolas"/>
              </a:rPr>
              <a:t>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</a:t>
            </a:r>
            <a:r>
              <a:rPr sz="2200">
                <a:solidFill>
                  <a:srgbClr val="66D9EF"/>
                </a:solidFill>
                <a:latin typeface="Consolas"/>
              </a:rPr>
              <a:t>Escribir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A6E22E"/>
                </a:solidFill>
                <a:latin typeface="Consolas"/>
              </a:rPr>
              <a:t>"El área es: "</a:t>
            </a:r>
            <a:r>
              <a:rPr sz="2200">
                <a:solidFill>
                  <a:srgbClr val="F8F8F2"/>
                </a:solidFill>
                <a:latin typeface="Consolas"/>
              </a:rPr>
              <a:t>,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area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66D9EF"/>
                </a:solidFill>
                <a:latin typeface="Consolas"/>
              </a:rPr>
              <a:t>FinProceso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9" name="Google Shape;149;p6"/>
          <p:cNvSpPr txBox="1"/>
          <p:nvPr/>
        </p:nvSpPr>
        <p:spPr>
          <a:xfrm>
            <a:off x="700000" y="450000"/>
            <a:ext cx="169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Variables y constantes</a:t>
            </a:r>
          </a:p>
        </p:txBody>
      </p:sp>
      <p:sp>
        <p:nvSpPr>
          <p:cNvPr id="150" name="Google Shape;150;p6"/>
          <p:cNvSpPr txBox="1"/>
          <p:nvPr/>
        </p:nvSpPr>
        <p:spPr>
          <a:xfrm>
            <a:off x="900000" y="1900000"/>
            <a:ext cx="7900000" cy="7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Variable:</a:t>
            </a:r>
            <a:r>
              <a:rPr b="0" sz="2600">
                <a:solidFill>
                  <a:srgbClr val="000000"/>
                </a:solidFill>
                <a:latin typeface="Open Sans"/>
              </a:rPr>
              <a:t> espacio de memoria con nombre cuyo valor puede cambiar.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Constante:</a:t>
            </a:r>
            <a:r>
              <a:rPr b="0" sz="2600">
                <a:solidFill>
                  <a:srgbClr val="000000"/>
                </a:solidFill>
                <a:latin typeface="Open Sans"/>
              </a:rPr>
              <a:t> valor fijo durante toda la ejecución (por ejemplo PI).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Nombres descriptivos: </a:t>
            </a:r>
            <a:r>
              <a:rPr b="1" sz="2600">
                <a:solidFill>
                  <a:srgbClr val="B3261E"/>
                </a:solidFill>
                <a:latin typeface="Consolas"/>
              </a:rPr>
              <a:t>precioUnitario</a:t>
            </a:r>
            <a:r>
              <a:rPr b="0" sz="2600">
                <a:solidFill>
                  <a:srgbClr val="000000"/>
                </a:solidFill>
                <a:latin typeface="Open Sans"/>
              </a:rPr>
              <a:t>, no </a:t>
            </a:r>
            <a:r>
              <a:rPr b="1" sz="2600">
                <a:solidFill>
                  <a:srgbClr val="B3261E"/>
                </a:solidFill>
                <a:latin typeface="Consolas"/>
              </a:rPr>
              <a:t>x</a:t>
            </a:r>
            <a:r>
              <a:rPr b="0" sz="2600">
                <a:solidFill>
                  <a:srgbClr val="000000"/>
                </a:solidFill>
                <a:latin typeface="Open Sans"/>
              </a:rPr>
              <a:t>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Declarar con </a:t>
            </a:r>
            <a:r>
              <a:rPr b="1" sz="2600">
                <a:solidFill>
                  <a:srgbClr val="B3261E"/>
                </a:solidFill>
                <a:latin typeface="Consolas"/>
              </a:rPr>
              <a:t>Definir nombre Como Tipo</a:t>
            </a:r>
            <a:r>
              <a:rPr b="0" sz="2600">
                <a:solidFill>
                  <a:srgbClr val="000000"/>
                </a:solidFill>
                <a:latin typeface="Open Sans"/>
              </a:rPr>
              <a:t>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Inicializar antes de usar.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9100000" y="1900000"/>
            <a:ext cx="8650000" cy="77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3B3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TextBox 151"/>
          <p:cNvSpPr txBox="1"/>
          <p:nvPr/>
        </p:nvSpPr>
        <p:spPr>
          <a:xfrm>
            <a:off x="9250000" y="1960000"/>
            <a:ext cx="8350000" cy="42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b="1" sz="1200">
                <a:solidFill>
                  <a:srgbClr val="F5A623"/>
                </a:solidFill>
                <a:latin typeface="Consolas"/>
              </a:rPr>
              <a:t>Declaración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250000" y="2360000"/>
            <a:ext cx="8350000" cy="716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66D9EF"/>
                </a:solidFill>
                <a:latin typeface="Consolas"/>
              </a:rPr>
              <a:t>Definir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edad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66D9EF"/>
                </a:solidFill>
                <a:latin typeface="Consolas"/>
              </a:rPr>
              <a:t>Como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66D9EF"/>
                </a:solidFill>
                <a:latin typeface="Consolas"/>
              </a:rPr>
              <a:t>Entero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66D9EF"/>
                </a:solidFill>
                <a:latin typeface="Consolas"/>
              </a:rPr>
              <a:t>Definir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nombre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66D9EF"/>
                </a:solidFill>
                <a:latin typeface="Consolas"/>
              </a:rPr>
              <a:t>Como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66D9EF"/>
                </a:solidFill>
                <a:latin typeface="Consolas"/>
              </a:rPr>
              <a:t>Cadena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66D9EF"/>
                </a:solidFill>
                <a:latin typeface="Consolas"/>
              </a:rPr>
              <a:t>Definir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promedio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66D9EF"/>
                </a:solidFill>
                <a:latin typeface="Consolas"/>
              </a:rPr>
              <a:t>Como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66D9EF"/>
                </a:solidFill>
                <a:latin typeface="Consolas"/>
              </a:rPr>
              <a:t>Real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66D9EF"/>
                </a:solidFill>
                <a:latin typeface="Consolas"/>
              </a:rPr>
              <a:t>Definir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aprobado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66D9EF"/>
                </a:solidFill>
                <a:latin typeface="Consolas"/>
              </a:rPr>
              <a:t>Como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66D9EF"/>
                </a:solidFill>
                <a:latin typeface="Consolas"/>
              </a:rPr>
              <a:t>Logico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constanteIVA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&lt;</a:t>
            </a:r>
            <a:r>
              <a:rPr sz="2200">
                <a:solidFill>
                  <a:srgbClr val="F8F8F2"/>
                </a:solidFill>
                <a:latin typeface="Consolas"/>
              </a:rPr>
              <a:t>-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D971F"/>
                </a:solidFill>
                <a:latin typeface="Consolas"/>
              </a:rPr>
              <a:t>0.12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edad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&lt;</a:t>
            </a:r>
            <a:r>
              <a:rPr sz="2200">
                <a:solidFill>
                  <a:srgbClr val="F8F8F2"/>
                </a:solidFill>
                <a:latin typeface="Consolas"/>
              </a:rPr>
              <a:t>-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D971F"/>
                </a:solidFill>
                <a:latin typeface="Consolas"/>
              </a:rPr>
              <a:t>20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nombre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&lt;</a:t>
            </a:r>
            <a:r>
              <a:rPr sz="2200">
                <a:solidFill>
                  <a:srgbClr val="F8F8F2"/>
                </a:solidFill>
                <a:latin typeface="Consolas"/>
              </a:rPr>
              <a:t>-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A6E22E"/>
                </a:solidFill>
                <a:latin typeface="Consolas"/>
              </a:rPr>
              <a:t>"Ana"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aprobado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&lt;</a:t>
            </a:r>
            <a:r>
              <a:rPr sz="2200">
                <a:solidFill>
                  <a:srgbClr val="F8F8F2"/>
                </a:solidFill>
                <a:latin typeface="Consolas"/>
              </a:rPr>
              <a:t>-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66D9EF"/>
                </a:solidFill>
                <a:latin typeface="Consolas"/>
              </a:rPr>
              <a:t>Verdadero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9" name="Google Shape;149;p6"/>
          <p:cNvSpPr txBox="1"/>
          <p:nvPr/>
        </p:nvSpPr>
        <p:spPr>
          <a:xfrm>
            <a:off x="700000" y="450000"/>
            <a:ext cx="169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Tipos de datos</a:t>
            </a:r>
          </a:p>
        </p:txBody>
      </p:sp>
      <p:sp>
        <p:nvSpPr>
          <p:cNvPr id="150" name="Google Shape;150;p6"/>
          <p:cNvSpPr txBox="1"/>
          <p:nvPr/>
        </p:nvSpPr>
        <p:spPr>
          <a:xfrm>
            <a:off x="900000" y="1900000"/>
            <a:ext cx="7900000" cy="7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Los tipos determinan qué valores y operaciones se permiten.</a:t>
            </a:r>
          </a:p>
        </p:txBody>
      </p:sp>
      <p:graphicFrame>
        <p:nvGraphicFramePr>
          <p:cNvPr id="151" name="Table 150"/>
          <p:cNvGraphicFramePr>
            <a:graphicFrameLocks noGrp="1"/>
          </p:cNvGraphicFramePr>
          <p:nvPr/>
        </p:nvGraphicFramePr>
        <p:xfrm>
          <a:off x="9100000" y="2100000"/>
          <a:ext cx="8650000" cy="3737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3333"/>
                <a:gridCol w="2883333"/>
                <a:gridCol w="2883334"/>
              </a:tblGrid>
              <a:tr h="747500">
                <a:tc>
                  <a:txBody>
                    <a:bodyPr wrap="square"/>
                    <a:lstStyle/>
                    <a:p>
                      <a:r>
                        <a:rPr b="1" sz="2610">
                          <a:solidFill>
                            <a:srgbClr val="FFFFFF"/>
                          </a:solidFill>
                          <a:latin typeface="Open Sans"/>
                        </a:rPr>
                        <a:t>Tipo PSeInt</a:t>
                      </a:r>
                    </a:p>
                  </a:txBody>
                  <a:tcPr marL="80000" marR="80000" marT="40000" marB="40000">
                    <a:solidFill>
                      <a:srgbClr val="F5A6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2610">
                          <a:solidFill>
                            <a:srgbClr val="FFFFFF"/>
                          </a:solidFill>
                          <a:latin typeface="Open Sans"/>
                        </a:rPr>
                        <a:t>Qué almacena</a:t>
                      </a:r>
                    </a:p>
                  </a:txBody>
                  <a:tcPr marL="80000" marR="80000" marT="40000" marB="40000">
                    <a:solidFill>
                      <a:srgbClr val="F5A6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2610">
                          <a:solidFill>
                            <a:srgbClr val="FFFFFF"/>
                          </a:solidFill>
                          <a:latin typeface="Open Sans"/>
                        </a:rPr>
                        <a:t>Ejemplo</a:t>
                      </a:r>
                    </a:p>
                  </a:txBody>
                  <a:tcPr marL="80000" marR="80000" marT="40000" marB="40000">
                    <a:solidFill>
                      <a:srgbClr val="F5A623"/>
                    </a:solidFill>
                  </a:tcPr>
                </a:tc>
              </a:tr>
              <a:tr h="747500">
                <a:tc>
                  <a:txBody>
                    <a:bodyPr wrap="square"/>
                    <a:lstStyle/>
                    <a:p>
                      <a:r>
                        <a:rPr b="0" sz="2610">
                          <a:solidFill>
                            <a:srgbClr val="1F1F1F"/>
                          </a:solidFill>
                          <a:latin typeface="Open Sans"/>
                        </a:rPr>
                        <a:t>Entero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610">
                          <a:solidFill>
                            <a:srgbClr val="1F1F1F"/>
                          </a:solidFill>
                          <a:latin typeface="Open Sans"/>
                        </a:rPr>
                        <a:t>Números sin decimales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610">
                          <a:solidFill>
                            <a:srgbClr val="1F1F1F"/>
                          </a:solidFill>
                          <a:latin typeface="Open Sans"/>
                        </a:rPr>
                        <a:t>25, -3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</a:tr>
              <a:tr h="747500">
                <a:tc>
                  <a:txBody>
                    <a:bodyPr wrap="square"/>
                    <a:lstStyle/>
                    <a:p>
                      <a:r>
                        <a:rPr b="0" sz="2610">
                          <a:solidFill>
                            <a:srgbClr val="1F1F1F"/>
                          </a:solidFill>
                          <a:latin typeface="Open Sans"/>
                        </a:rPr>
                        <a:t>Real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610">
                          <a:solidFill>
                            <a:srgbClr val="1F1F1F"/>
                          </a:solidFill>
                          <a:latin typeface="Open Sans"/>
                        </a:rPr>
                        <a:t>Números con decimales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610">
                          <a:solidFill>
                            <a:srgbClr val="1F1F1F"/>
                          </a:solidFill>
                          <a:latin typeface="Open Sans"/>
                        </a:rPr>
                        <a:t>3.14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</a:tr>
              <a:tr h="747500">
                <a:tc>
                  <a:txBody>
                    <a:bodyPr wrap="square"/>
                    <a:lstStyle/>
                    <a:p>
                      <a:r>
                        <a:rPr b="0" sz="2610">
                          <a:solidFill>
                            <a:srgbClr val="1F1F1F"/>
                          </a:solidFill>
                          <a:latin typeface="Open Sans"/>
                        </a:rPr>
                        <a:t>Caracter / Cadena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610">
                          <a:solidFill>
                            <a:srgbClr val="1F1F1F"/>
                          </a:solidFill>
                          <a:latin typeface="Open Sans"/>
                        </a:rPr>
                        <a:t>Texto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610">
                          <a:solidFill>
                            <a:srgbClr val="1F1F1F"/>
                          </a:solidFill>
                          <a:latin typeface="Open Sans"/>
                        </a:rPr>
                        <a:t>"Hola"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</a:tr>
              <a:tr h="747500">
                <a:tc>
                  <a:txBody>
                    <a:bodyPr wrap="square"/>
                    <a:lstStyle/>
                    <a:p>
                      <a:r>
                        <a:rPr b="0" sz="2610">
                          <a:solidFill>
                            <a:srgbClr val="1F1F1F"/>
                          </a:solidFill>
                          <a:latin typeface="Open Sans"/>
                        </a:rPr>
                        <a:t>Logico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610">
                          <a:solidFill>
                            <a:srgbClr val="1F1F1F"/>
                          </a:solidFill>
                          <a:latin typeface="Open Sans"/>
                        </a:rPr>
                        <a:t>Verdadero o Falso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610">
                          <a:solidFill>
                            <a:srgbClr val="1F1F1F"/>
                          </a:solidFill>
                          <a:latin typeface="Open Sans"/>
                        </a:rPr>
                        <a:t>Verdadero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9" name="Google Shape;149;p6"/>
          <p:cNvSpPr txBox="1"/>
          <p:nvPr/>
        </p:nvSpPr>
        <p:spPr>
          <a:xfrm>
            <a:off x="700000" y="450000"/>
            <a:ext cx="169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Expresiones y operadores</a:t>
            </a:r>
          </a:p>
        </p:txBody>
      </p:sp>
      <p:sp>
        <p:nvSpPr>
          <p:cNvPr id="150" name="Google Shape;150;p6"/>
          <p:cNvSpPr txBox="1"/>
          <p:nvPr/>
        </p:nvSpPr>
        <p:spPr>
          <a:xfrm>
            <a:off x="900000" y="1900000"/>
            <a:ext cx="7900000" cy="7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Aritméticos:</a:t>
            </a:r>
            <a:r>
              <a:rPr b="0" sz="2600">
                <a:solidFill>
                  <a:srgbClr val="000000"/>
                </a:solidFill>
                <a:latin typeface="Open Sans"/>
              </a:rPr>
              <a:t> </a:t>
            </a:r>
            <a:r>
              <a:rPr b="1" sz="2600">
                <a:solidFill>
                  <a:srgbClr val="B3261E"/>
                </a:solidFill>
                <a:latin typeface="Consolas"/>
              </a:rPr>
              <a:t>+ - * / ^ %</a:t>
            </a:r>
            <a:r>
              <a:rPr b="0" sz="2600">
                <a:solidFill>
                  <a:srgbClr val="000000"/>
                </a:solidFill>
                <a:latin typeface="Open Sans"/>
              </a:rPr>
              <a:t> (MOD).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Relacionales:</a:t>
            </a:r>
            <a:r>
              <a:rPr b="0" sz="2600">
                <a:solidFill>
                  <a:srgbClr val="000000"/>
                </a:solidFill>
                <a:latin typeface="Open Sans"/>
              </a:rPr>
              <a:t> </a:t>
            </a:r>
            <a:r>
              <a:rPr b="1" sz="2600">
                <a:solidFill>
                  <a:srgbClr val="B3261E"/>
                </a:solidFill>
                <a:latin typeface="Consolas"/>
              </a:rPr>
              <a:t>&gt; &lt; &gt;= &lt;= = &lt;&gt;</a:t>
            </a:r>
            <a:r>
              <a:rPr b="0" sz="2600">
                <a:solidFill>
                  <a:srgbClr val="000000"/>
                </a:solidFill>
                <a:latin typeface="Open Sans"/>
              </a:rPr>
              <a:t>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Lógicos:</a:t>
            </a:r>
            <a:r>
              <a:rPr b="0" sz="2600">
                <a:solidFill>
                  <a:srgbClr val="000000"/>
                </a:solidFill>
                <a:latin typeface="Open Sans"/>
              </a:rPr>
              <a:t> </a:t>
            </a:r>
            <a:r>
              <a:rPr b="1" sz="2600">
                <a:solidFill>
                  <a:srgbClr val="B3261E"/>
                </a:solidFill>
                <a:latin typeface="Consolas"/>
              </a:rPr>
              <a:t>Y</a:t>
            </a:r>
            <a:r>
              <a:rPr b="0" sz="2600">
                <a:solidFill>
                  <a:srgbClr val="000000"/>
                </a:solidFill>
                <a:latin typeface="Open Sans"/>
              </a:rPr>
              <a:t>, </a:t>
            </a:r>
            <a:r>
              <a:rPr b="1" sz="2600">
                <a:solidFill>
                  <a:srgbClr val="B3261E"/>
                </a:solidFill>
                <a:latin typeface="Consolas"/>
              </a:rPr>
              <a:t>O</a:t>
            </a:r>
            <a:r>
              <a:rPr b="0" sz="2600">
                <a:solidFill>
                  <a:srgbClr val="000000"/>
                </a:solidFill>
                <a:latin typeface="Open Sans"/>
              </a:rPr>
              <a:t>, </a:t>
            </a:r>
            <a:r>
              <a:rPr b="1" sz="2600">
                <a:solidFill>
                  <a:srgbClr val="B3261E"/>
                </a:solidFill>
                <a:latin typeface="Consolas"/>
              </a:rPr>
              <a:t>NO</a:t>
            </a:r>
            <a:r>
              <a:rPr b="0" sz="2600">
                <a:solidFill>
                  <a:srgbClr val="000000"/>
                </a:solidFill>
                <a:latin typeface="Open Sans"/>
              </a:rPr>
              <a:t>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Precedencia:</a:t>
            </a:r>
            <a:r>
              <a:rPr b="0" sz="2600">
                <a:solidFill>
                  <a:srgbClr val="000000"/>
                </a:solidFill>
                <a:latin typeface="Open Sans"/>
              </a:rPr>
              <a:t> paréntesis, potencia, multiplicación/división, suma/resta.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Una expresión produce un valor: </a:t>
            </a:r>
            <a:r>
              <a:rPr b="1" sz="2600">
                <a:solidFill>
                  <a:srgbClr val="B3261E"/>
                </a:solidFill>
                <a:latin typeface="Consolas"/>
              </a:rPr>
              <a:t>(a + b) / 2</a:t>
            </a:r>
            <a:r>
              <a:rPr b="0" sz="2600">
                <a:solidFill>
                  <a:srgbClr val="000000"/>
                </a:solidFill>
                <a:latin typeface="Open Sans"/>
              </a:rPr>
              <a:t>.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9100000" y="1900000"/>
            <a:ext cx="8650000" cy="77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3B3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TextBox 151"/>
          <p:cNvSpPr txBox="1"/>
          <p:nvPr/>
        </p:nvSpPr>
        <p:spPr>
          <a:xfrm>
            <a:off x="9250000" y="1960000"/>
            <a:ext cx="8350000" cy="42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b="1" sz="1200">
                <a:solidFill>
                  <a:srgbClr val="F5A623"/>
                </a:solidFill>
                <a:latin typeface="Consolas"/>
              </a:rPr>
              <a:t>Expresiones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250000" y="2360000"/>
            <a:ext cx="8350000" cy="716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66D9EF"/>
                </a:solidFill>
                <a:latin typeface="Consolas"/>
              </a:rPr>
              <a:t>Definir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a</a:t>
            </a:r>
            <a:r>
              <a:rPr sz="2200">
                <a:solidFill>
                  <a:srgbClr val="F8F8F2"/>
                </a:solidFill>
                <a:latin typeface="Consolas"/>
              </a:rPr>
              <a:t>,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b</a:t>
            </a:r>
            <a:r>
              <a:rPr sz="2200">
                <a:solidFill>
                  <a:srgbClr val="F8F8F2"/>
                </a:solidFill>
                <a:latin typeface="Consolas"/>
              </a:rPr>
              <a:t>,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prom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66D9EF"/>
                </a:solidFill>
                <a:latin typeface="Consolas"/>
              </a:rPr>
              <a:t>Como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66D9EF"/>
                </a:solidFill>
                <a:latin typeface="Consolas"/>
              </a:rPr>
              <a:t>Real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a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&lt;</a:t>
            </a:r>
            <a:r>
              <a:rPr sz="2200">
                <a:solidFill>
                  <a:srgbClr val="F8F8F2"/>
                </a:solidFill>
                <a:latin typeface="Consolas"/>
              </a:rPr>
              <a:t>-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D971F"/>
                </a:solidFill>
                <a:latin typeface="Consolas"/>
              </a:rPr>
              <a:t>10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b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&lt;</a:t>
            </a:r>
            <a:r>
              <a:rPr sz="2200">
                <a:solidFill>
                  <a:srgbClr val="F8F8F2"/>
                </a:solidFill>
                <a:latin typeface="Consolas"/>
              </a:rPr>
              <a:t>-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D971F"/>
                </a:solidFill>
                <a:latin typeface="Consolas"/>
              </a:rPr>
              <a:t>7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prom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&lt;</a:t>
            </a:r>
            <a:r>
              <a:rPr sz="2200">
                <a:solidFill>
                  <a:srgbClr val="F8F8F2"/>
                </a:solidFill>
                <a:latin typeface="Consolas"/>
              </a:rPr>
              <a:t>-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(</a:t>
            </a:r>
            <a:r>
              <a:rPr sz="2200">
                <a:solidFill>
                  <a:srgbClr val="F8F8F2"/>
                </a:solidFill>
                <a:latin typeface="Consolas"/>
              </a:rPr>
              <a:t>a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+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b</a:t>
            </a:r>
            <a:r>
              <a:rPr sz="2200">
                <a:solidFill>
                  <a:srgbClr val="F8F8F2"/>
                </a:solidFill>
                <a:latin typeface="Consolas"/>
              </a:rPr>
              <a:t>)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/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D971F"/>
                </a:solidFill>
                <a:latin typeface="Consolas"/>
              </a:rPr>
              <a:t>2</a:t>
            </a:r>
            <a:r>
              <a:rPr sz="2200">
                <a:solidFill>
                  <a:srgbClr val="F8F8F2"/>
                </a:solidFill>
                <a:latin typeface="Consolas"/>
              </a:rPr>
              <a:t>        </a:t>
            </a:r>
            <a:r>
              <a:rPr sz="2200">
                <a:solidFill>
                  <a:srgbClr val="7F8C8D"/>
                </a:solidFill>
                <a:latin typeface="Consolas"/>
              </a:rPr>
              <a:t>// 8.5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resto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&lt;</a:t>
            </a:r>
            <a:r>
              <a:rPr sz="2200">
                <a:solidFill>
                  <a:srgbClr val="F8F8F2"/>
                </a:solidFill>
                <a:latin typeface="Consolas"/>
              </a:rPr>
              <a:t>-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D971F"/>
                </a:solidFill>
                <a:latin typeface="Consolas"/>
              </a:rPr>
              <a:t>17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5C26B"/>
                </a:solidFill>
                <a:latin typeface="Consolas"/>
              </a:rPr>
              <a:t>MOD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D971F"/>
                </a:solidFill>
                <a:latin typeface="Consolas"/>
              </a:rPr>
              <a:t>5</a:t>
            </a:r>
            <a:r>
              <a:rPr sz="2200">
                <a:solidFill>
                  <a:srgbClr val="F8F8F2"/>
                </a:solidFill>
                <a:latin typeface="Consolas"/>
              </a:rPr>
              <a:t>          </a:t>
            </a:r>
            <a:r>
              <a:rPr sz="2200">
                <a:solidFill>
                  <a:srgbClr val="7F8C8D"/>
                </a:solidFill>
                <a:latin typeface="Consolas"/>
              </a:rPr>
              <a:t>// 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esPar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&lt;</a:t>
            </a:r>
            <a:r>
              <a:rPr sz="2200">
                <a:solidFill>
                  <a:srgbClr val="F8F8F2"/>
                </a:solidFill>
                <a:latin typeface="Consolas"/>
              </a:rPr>
              <a:t>-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(</a:t>
            </a:r>
            <a:r>
              <a:rPr sz="2200">
                <a:solidFill>
                  <a:srgbClr val="F8F8F2"/>
                </a:solidFill>
                <a:latin typeface="Consolas"/>
              </a:rPr>
              <a:t>n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5C26B"/>
                </a:solidFill>
                <a:latin typeface="Consolas"/>
              </a:rPr>
              <a:t>MOD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D971F"/>
                </a:solidFill>
                <a:latin typeface="Consolas"/>
              </a:rPr>
              <a:t>2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=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D971F"/>
                </a:solidFill>
                <a:latin typeface="Consolas"/>
              </a:rPr>
              <a:t>0</a:t>
            </a:r>
            <a:r>
              <a:rPr sz="2200">
                <a:solidFill>
                  <a:srgbClr val="F8F8F2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valido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&lt;</a:t>
            </a:r>
            <a:r>
              <a:rPr sz="2200">
                <a:solidFill>
                  <a:srgbClr val="F8F8F2"/>
                </a:solidFill>
                <a:latin typeface="Consolas"/>
              </a:rPr>
              <a:t>-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(</a:t>
            </a:r>
            <a:r>
              <a:rPr sz="2200">
                <a:solidFill>
                  <a:srgbClr val="F8F8F2"/>
                </a:solidFill>
                <a:latin typeface="Consolas"/>
              </a:rPr>
              <a:t>nota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&gt;</a:t>
            </a:r>
            <a:r>
              <a:rPr sz="2200">
                <a:solidFill>
                  <a:srgbClr val="F8F8F2"/>
                </a:solidFill>
                <a:latin typeface="Consolas"/>
              </a:rPr>
              <a:t>=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D971F"/>
                </a:solidFill>
                <a:latin typeface="Consolas"/>
              </a:rPr>
              <a:t>0</a:t>
            </a:r>
            <a:r>
              <a:rPr sz="2200">
                <a:solidFill>
                  <a:srgbClr val="F8F8F2"/>
                </a:solidFill>
                <a:latin typeface="Consolas"/>
              </a:rPr>
              <a:t>)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66D9EF"/>
                </a:solidFill>
                <a:latin typeface="Consolas"/>
              </a:rPr>
              <a:t>Y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(</a:t>
            </a:r>
            <a:r>
              <a:rPr sz="2200">
                <a:solidFill>
                  <a:srgbClr val="F8F8F2"/>
                </a:solidFill>
                <a:latin typeface="Consolas"/>
              </a:rPr>
              <a:t>nota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&lt;</a:t>
            </a:r>
            <a:r>
              <a:rPr sz="2200">
                <a:solidFill>
                  <a:srgbClr val="F8F8F2"/>
                </a:solidFill>
                <a:latin typeface="Consolas"/>
              </a:rPr>
              <a:t>=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D971F"/>
                </a:solidFill>
                <a:latin typeface="Consolas"/>
              </a:rPr>
              <a:t>100</a:t>
            </a:r>
            <a:r>
              <a:rPr sz="2200">
                <a:solidFill>
                  <a:srgbClr val="F8F8F2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