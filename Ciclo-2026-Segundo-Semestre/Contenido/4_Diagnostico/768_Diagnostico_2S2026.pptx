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9" r:id="rId24"/>
    <p:sldId id="270" r:id="rId25"/>
    <p:sldId id="271" r:id="rId26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m85lVLB1ZRS/OcRZ+JX+9jZPN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font" Target="fonts/OpenSans-regular.fntdata"/><Relationship Id="rId20" Type="http://schemas.openxmlformats.org/officeDocument/2006/relationships/font" Target="fonts/OpenSans-bold.fntdata"/><Relationship Id="rId21" Type="http://schemas.openxmlformats.org/officeDocument/2006/relationships/font" Target="fonts/OpenSans-italic.fntdata"/><Relationship Id="rId22" Type="http://schemas.openxmlformats.org/officeDocument/2006/relationships/font" Target="fonts/OpenSans-boldItalic.fntdata"/><Relationship Id="rId23" Type="http://customschemas.google.com/relationships/presentationmetadata" Target="metadata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75b4d7e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d75b4d7ed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75b4d7e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d75b4d7ed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75b4d7ed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d75b4d7ed6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2b5696ad5e50c83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h2b5696ad5e50c832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75b4d7ed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d75b4d7ed6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75b4d7ed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d75b4d7ed6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CococysLabs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Escuela de Ingeniería en Ciencias y Sistemas</a:t>
            </a: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Laboratorio 768 · Segundo Semestre 2026</a:t>
            </a: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330000"/>
            <a:ext cx="90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Tutor Académico: Jorge Andrés Mejía Súchite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3400">
                <a:solidFill>
                  <a:srgbClr val="000000"/>
                </a:solidFill>
                <a:latin typeface="Open Sans"/>
              </a:rPr>
              <a:t>Introducción a los Algoritmos y Flujo de Datos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900000" y="1830000"/>
            <a:ext cx="7388000" cy="125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11300000" y="2150000"/>
          <a:ext cx="6500000" cy="6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5000000"/>
              </a:tblGrid>
              <a:tr h="644000"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1F1F1F"/>
                          </a:solidFill>
                          <a:latin typeface="Open Sans"/>
                        </a:rPr>
                        <a:t>Fecha: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Semana 1 – julio de 2026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27878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3102001" y="2985175"/>
            <a:ext cx="12084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lang="en-US" sz="8799"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4000075" y="2756063"/>
            <a:ext cx="9896507" cy="7627980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4"/>
          <p:cNvSpPr/>
          <p:nvPr/>
        </p:nvSpPr>
        <p:spPr>
          <a:xfrm>
            <a:off x="3493371" y="-730682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4"/>
          <p:cNvSpPr/>
          <p:nvPr/>
        </p:nvSpPr>
        <p:spPr>
          <a:xfrm>
            <a:off x="4875920" y="3204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4"/>
          <p:cNvSpPr txBox="1"/>
          <p:nvPr/>
        </p:nvSpPr>
        <p:spPr>
          <a:xfrm>
            <a:off x="5720900" y="3500263"/>
            <a:ext cx="8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1. Presentación del tutor</a:t>
            </a:r>
          </a:p>
        </p:txBody>
      </p:sp>
      <p:sp>
        <p:nvSpPr>
          <p:cNvPr id="104" name="Google Shape;104;p4"/>
          <p:cNvSpPr/>
          <p:nvPr/>
        </p:nvSpPr>
        <p:spPr>
          <a:xfrm>
            <a:off x="4875920" y="423285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4"/>
          <p:cNvSpPr txBox="1"/>
          <p:nvPr/>
        </p:nvSpPr>
        <p:spPr>
          <a:xfrm>
            <a:off x="5720900" y="4589013"/>
            <a:ext cx="8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2. Evaluación de Conocimientos Previos</a:t>
            </a:r>
          </a:p>
        </p:txBody>
      </p:sp>
      <p:sp>
        <p:nvSpPr>
          <p:cNvPr id="106" name="Google Shape;106;p4"/>
          <p:cNvSpPr/>
          <p:nvPr/>
        </p:nvSpPr>
        <p:spPr>
          <a:xfrm>
            <a:off x="4824745" y="531092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4"/>
          <p:cNvSpPr/>
          <p:nvPr/>
        </p:nvSpPr>
        <p:spPr>
          <a:xfrm>
            <a:off x="4824745" y="64136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4"/>
          <p:cNvSpPr/>
          <p:nvPr/>
        </p:nvSpPr>
        <p:spPr>
          <a:xfrm>
            <a:off x="4824745" y="7516297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4"/>
          <p:cNvSpPr txBox="1"/>
          <p:nvPr/>
        </p:nvSpPr>
        <p:spPr>
          <a:xfrm>
            <a:off x="5720900" y="5677738"/>
            <a:ext cx="8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3. Presentación de los Estudiantes</a:t>
            </a:r>
          </a:p>
        </p:txBody>
      </p:sp>
      <p:sp>
        <p:nvSpPr>
          <p:cNvPr id="110" name="Google Shape;110;p4"/>
          <p:cNvSpPr txBox="1"/>
          <p:nvPr/>
        </p:nvSpPr>
        <p:spPr>
          <a:xfrm>
            <a:off x="5720900" y="6710914"/>
            <a:ext cx="8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4.  Censo de Horarios de Calificación</a:t>
            </a:r>
          </a:p>
        </p:txBody>
      </p:sp>
      <p:sp>
        <p:nvSpPr>
          <p:cNvPr id="111" name="Google Shape;111;p4"/>
          <p:cNvSpPr txBox="1"/>
          <p:nvPr/>
        </p:nvSpPr>
        <p:spPr>
          <a:xfrm>
            <a:off x="5720900" y="7744063"/>
            <a:ext cx="8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5. Programa del Curso</a:t>
            </a:r>
          </a:p>
        </p:txBody>
      </p:sp>
      <p:sp>
        <p:nvSpPr>
          <p:cNvPr id="112" name="Google Shape;112;p4"/>
          <p:cNvSpPr txBox="1"/>
          <p:nvPr/>
        </p:nvSpPr>
        <p:spPr>
          <a:xfrm>
            <a:off x="5720900" y="8717000"/>
            <a:ext cx="8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6. Evaluación de Conocimientos del Curso Actual</a:t>
            </a:r>
          </a:p>
        </p:txBody>
      </p:sp>
      <p:sp>
        <p:nvSpPr>
          <p:cNvPr id="113" name="Google Shape;113;p4"/>
          <p:cNvSpPr txBox="1"/>
          <p:nvPr/>
        </p:nvSpPr>
        <p:spPr>
          <a:xfrm>
            <a:off x="5720900" y="9689925"/>
            <a:ext cx="8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7. Tarea de fortalecimiento académico</a:t>
            </a:r>
          </a:p>
        </p:txBody>
      </p:sp>
      <p:sp>
        <p:nvSpPr>
          <p:cNvPr id="114" name="Google Shape;114;p4"/>
          <p:cNvSpPr/>
          <p:nvPr/>
        </p:nvSpPr>
        <p:spPr>
          <a:xfrm>
            <a:off x="4875920" y="844472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4"/>
          <p:cNvSpPr/>
          <p:nvPr/>
        </p:nvSpPr>
        <p:spPr>
          <a:xfrm>
            <a:off x="4875920" y="946217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489650" y="7311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600"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sz="5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sz="5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1407021" y="2500000"/>
            <a:ext cx="10200000" cy="7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Jorge Andrés Mejía Súchite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Estudiante de Ingeniería en Ciencias y Sistemas (USAC)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Tutor Académico – Laboratorio 768 Algoritmos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Contacto: jorgemejia2501@gmail.com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Experiencia: programación, desarrollo de software y apoyo académico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Rol:</a:t>
            </a:r>
            <a:r>
              <a:rPr b="0" sz="3000">
                <a:solidFill>
                  <a:srgbClr val="000000"/>
                </a:solidFill>
                <a:latin typeface="Open Sans"/>
              </a:rPr>
              <a:t> apoyar a los estudiantes, resolver dudas y dar seguimiento a tareas, prácticas y proyectos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Dinámica:</a:t>
            </a:r>
            <a:r>
              <a:rPr b="0" sz="3000">
                <a:solidFill>
                  <a:srgbClr val="000000"/>
                </a:solidFill>
                <a:latin typeface="Open Sans"/>
              </a:rPr>
              <a:t> modalidad presencial, participación, entrega y calificación de proyectos y prácticas</a:t>
            </a:r>
          </a:p>
        </p:txBody>
      </p:sp>
      <p:sp>
        <p:nvSpPr>
          <p:cNvPr id="122" name="Oval 121"/>
          <p:cNvSpPr/>
          <p:nvPr/>
        </p:nvSpPr>
        <p:spPr>
          <a:xfrm>
            <a:off x="12900000" y="3000000"/>
            <a:ext cx="3600000" cy="3600000"/>
          </a:xfrm>
          <a:prstGeom prst="ellipse">
            <a:avLst/>
          </a:prstGeom>
          <a:solidFill>
            <a:srgbClr val="F5A623"/>
          </a:solidFill>
          <a:ln w="381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Aft>
                <a:spcPts val="600"/>
              </a:spcAft>
            </a:pPr>
            <a:r>
              <a:rPr b="1" sz="8000">
                <a:solidFill>
                  <a:srgbClr val="FFFFFF"/>
                </a:solidFill>
                <a:latin typeface="Open Sans"/>
              </a:rPr>
              <a:t>JM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400000" y="6750000"/>
            <a:ext cx="4600000" cy="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b="1" sz="2600">
                <a:solidFill>
                  <a:srgbClr val="000000"/>
                </a:solidFill>
                <a:latin typeface="Open Sans"/>
              </a:rPr>
              <a:t>Sección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/>
        </p:nvSpPr>
        <p:spPr>
          <a:xfrm>
            <a:off x="700000" y="500000"/>
            <a:ext cx="169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2. Evaluación de Conocimientos Previos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0000" y="2300000"/>
            <a:ext cx="8100000" cy="748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91160" indent="-391160" algn="l">
              <a:spcAft>
                <a:spcPts val="800"/>
              </a:spcAft>
              <a:buFont typeface="Arial"/>
              <a:buChar char="•"/>
            </a:pPr>
            <a:r>
              <a:rPr b="1" sz="2800">
                <a:solidFill>
                  <a:srgbClr val="000000"/>
                </a:solidFill>
                <a:latin typeface="Open Sans"/>
              </a:rPr>
              <a:t>Conocimientos previos (15 a 20 preguntas en Quizizz):</a:t>
            </a:r>
          </a:p>
          <a:p>
            <a:pPr marL="391160" indent="-391160" algn="l">
              <a:spcAft>
                <a:spcPts val="800"/>
              </a:spcAft>
              <a:buFont typeface="Arial"/>
              <a:buChar char="•"/>
            </a:pPr>
            <a:r>
              <a:rPr b="0" sz="2800">
                <a:solidFill>
                  <a:srgbClr val="000000"/>
                </a:solidFill>
                <a:latin typeface="Open Sans"/>
              </a:rPr>
              <a:t>Operaciones aritméticas y jerarquía de operadores.</a:t>
            </a:r>
          </a:p>
          <a:p>
            <a:pPr marL="391160" indent="-391160" algn="l">
              <a:spcAft>
                <a:spcPts val="800"/>
              </a:spcAft>
              <a:buFont typeface="Arial"/>
              <a:buChar char="•"/>
            </a:pPr>
            <a:r>
              <a:rPr b="0" sz="2800">
                <a:solidFill>
                  <a:srgbClr val="000000"/>
                </a:solidFill>
                <a:latin typeface="Open Sans"/>
              </a:rPr>
              <a:t>Lógica básica: verdadero/falso, Y, O, NO.</a:t>
            </a:r>
          </a:p>
          <a:p>
            <a:pPr marL="391160" indent="-391160" algn="l">
              <a:spcAft>
                <a:spcPts val="800"/>
              </a:spcAft>
              <a:buFont typeface="Arial"/>
              <a:buChar char="•"/>
            </a:pPr>
            <a:r>
              <a:rPr b="0" sz="2800">
                <a:solidFill>
                  <a:srgbClr val="000000"/>
                </a:solidFill>
                <a:latin typeface="Open Sans"/>
              </a:rPr>
              <a:t>Uso de la computadora: archivos, carpetas y navegador.</a:t>
            </a:r>
          </a:p>
          <a:p>
            <a:pPr marL="391160" indent="-391160" algn="l">
              <a:spcAft>
                <a:spcPts val="800"/>
              </a:spcAft>
              <a:buFont typeface="Arial"/>
              <a:buChar char="•"/>
            </a:pPr>
            <a:r>
              <a:rPr b="0" sz="2800">
                <a:solidFill>
                  <a:srgbClr val="000000"/>
                </a:solidFill>
                <a:latin typeface="Open Sans"/>
              </a:rPr>
              <a:t>Resolución de problemas cotidianos paso a paso.</a:t>
            </a:r>
          </a:p>
          <a:p>
            <a:pPr marL="391160" indent="-391160" algn="l">
              <a:spcAft>
                <a:spcPts val="800"/>
              </a:spcAft>
              <a:buFont typeface="Arial"/>
              <a:buChar char="•"/>
            </a:pPr>
            <a:r>
              <a:rPr b="1" sz="2800">
                <a:solidFill>
                  <a:srgbClr val="000000"/>
                </a:solidFill>
                <a:latin typeface="Open Sans"/>
              </a:rPr>
              <a:t>Parte práctica (derecha):</a:t>
            </a:r>
            <a:r>
              <a:rPr b="0" sz="2800">
                <a:solidFill>
                  <a:srgbClr val="000000"/>
                </a:solidFill>
                <a:latin typeface="Open Sans"/>
              </a:rPr>
              <a:t> ordenar los pasos de una receta como algoritmo.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300000" y="2300000"/>
            <a:ext cx="8400000" cy="73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9450000" y="2360000"/>
            <a:ext cx="810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Ejercicio práctico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450000" y="2760000"/>
            <a:ext cx="8100000" cy="67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Ordene los pasos para preparar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un huevo frito: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 a) Servir en un plato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 b) Calentar aceite en la sartén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 c) Romper el huevo en la sartén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 d) Esperar 3 minutos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 e) Retirar de la sartén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Resultado esperado: b, c, d, e, 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75b4d7ed6_0_12"/>
          <p:cNvSpPr txBox="1"/>
          <p:nvPr/>
        </p:nvSpPr>
        <p:spPr>
          <a:xfrm>
            <a:off x="700000" y="500000"/>
            <a:ext cx="169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3. Presentación de los Estudiantes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00000" y="2300000"/>
            <a:ext cx="16400000" cy="748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Selección al azar de 5 estudiantes (sorteo por número de lista).</a:t>
            </a:r>
          </a:p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Preguntas:</a:t>
            </a:r>
            <a:r>
              <a:rPr b="0" sz="3200">
                <a:solidFill>
                  <a:srgbClr val="000000"/>
                </a:solidFill>
                <a:latin typeface="Open Sans"/>
              </a:rPr>
              <a:t> nombre completo.</a:t>
            </a:r>
          </a:p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Intereses y expectativas del curso.</a:t>
            </a:r>
          </a:p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Experiencia previa en programación.</a:t>
            </a:r>
          </a:p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Dato curioso personal (película favorita).</a:t>
            </a:r>
          </a:p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¿La prueba de conocimientos previos estuvo acorde a lo visto en su momento? ¿Qué tan cómodo se sintió?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75b4d7ed6_0_21"/>
          <p:cNvSpPr txBox="1"/>
          <p:nvPr/>
        </p:nvSpPr>
        <p:spPr>
          <a:xfrm>
            <a:off x="700000" y="500000"/>
            <a:ext cx="169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4.  Senso de Horarios de Calificación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00000" y="2300000"/>
            <a:ext cx="8200000" cy="748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91160" indent="-391160" algn="l">
              <a:spcAft>
                <a:spcPts val="800"/>
              </a:spcAft>
              <a:buFont typeface="Arial"/>
              <a:buChar char="•"/>
            </a:pPr>
            <a:r>
              <a:rPr b="0" sz="2800">
                <a:solidFill>
                  <a:srgbClr val="000000"/>
                </a:solidFill>
                <a:latin typeface="Open Sans"/>
              </a:rPr>
              <a:t>Formulario de Google Forms restringido al correo institucional (una respuesta por estudiante).</a:t>
            </a:r>
          </a:p>
          <a:p>
            <a:pPr marL="391160" indent="-391160" algn="l">
              <a:spcAft>
                <a:spcPts val="800"/>
              </a:spcAft>
              <a:buFont typeface="Arial"/>
              <a:buChar char="•"/>
            </a:pPr>
            <a:r>
              <a:rPr b="0" sz="2800">
                <a:solidFill>
                  <a:srgbClr val="000000"/>
                </a:solidFill>
                <a:latin typeface="Open Sans"/>
              </a:rPr>
              <a:t>El enlace queda fijado en el chat de la llamada y abierto hasta el fin de la clase.</a:t>
            </a:r>
          </a:p>
          <a:p>
            <a:pPr marL="391160" indent="-391160" algn="l">
              <a:spcAft>
                <a:spcPts val="800"/>
              </a:spcAft>
              <a:buFont typeface="Arial"/>
              <a:buChar char="•"/>
            </a:pPr>
            <a:r>
              <a:rPr b="0" sz="2800">
                <a:solidFill>
                  <a:srgbClr val="000000"/>
                </a:solidFill>
                <a:latin typeface="Open Sans"/>
              </a:rPr>
              <a:t>Los horarios propuestos aparecen en la tabla de la derecha.</a:t>
            </a:r>
          </a:p>
          <a:p>
            <a:pPr marL="391160" indent="-391160" algn="l">
              <a:spcAft>
                <a:spcPts val="800"/>
              </a:spcAft>
              <a:buFont typeface="Arial"/>
              <a:buChar char="•"/>
            </a:pPr>
            <a:r>
              <a:rPr b="0" sz="2800">
                <a:solidFill>
                  <a:srgbClr val="000000"/>
                </a:solidFill>
                <a:latin typeface="Open Sans"/>
              </a:rPr>
              <a:t>Tiempo dedicado en la sesión: 5 minutos.</a:t>
            </a:r>
          </a:p>
        </p:txBody>
      </p:sp>
      <p:graphicFrame>
        <p:nvGraphicFramePr>
          <p:cNvPr id="152" name="Table 151"/>
          <p:cNvGraphicFramePr>
            <a:graphicFrameLocks noGrp="1"/>
          </p:cNvGraphicFramePr>
          <p:nvPr/>
        </p:nvGraphicFramePr>
        <p:xfrm>
          <a:off x="9400000" y="2400000"/>
          <a:ext cx="8300000" cy="27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0000"/>
                <a:gridCol w="4150000"/>
              </a:tblGrid>
              <a:tr h="690000"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FFFFFF"/>
                          </a:solidFill>
                          <a:latin typeface="Open Sans"/>
                        </a:rPr>
                        <a:t>Día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FFFFFF"/>
                          </a:solidFill>
                          <a:latin typeface="Open Sans"/>
                        </a:rPr>
                        <a:t>Horario tentativo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690000"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Sábado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08:00 – 12:00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690000"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Sábado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14:00 – 17:00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690000"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Entre semana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18:00 – 20:00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75b4d7ed6_0_30"/>
          <p:cNvSpPr txBox="1"/>
          <p:nvPr/>
        </p:nvSpPr>
        <p:spPr>
          <a:xfrm>
            <a:off x="700000" y="500000"/>
            <a:ext cx="169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5. Programa del Curso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00000" y="2300000"/>
            <a:ext cx="16400000" cy="748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Curso 768:</a:t>
            </a:r>
            <a:r>
              <a:rPr b="0" sz="3200">
                <a:solidFill>
                  <a:srgbClr val="000000"/>
                </a:solidFill>
                <a:latin typeface="Open Sans"/>
              </a:rPr>
              <a:t> Introducción a los Algoritmos y Flujo de Datos.</a:t>
            </a:r>
          </a:p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Competencias, contenidos por semana y evaluación del laboratorio.</a:t>
            </a:r>
          </a:p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Herramientas: PSeInt, RAPTOR, Python, Git y GitHub.</a:t>
            </a:r>
          </a:p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Canales oficiales: foro del curso en UEDI y canal de YouTube.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2b5696ad5e50c832_0_1"/>
          <p:cNvSpPr txBox="1"/>
          <p:nvPr/>
        </p:nvSpPr>
        <p:spPr>
          <a:xfrm>
            <a:off x="700000" y="500000"/>
            <a:ext cx="169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5.1 Recursos del Laboratorio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00000" y="2300000"/>
            <a:ext cx="16400000" cy="748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Datos de los sitios del laboratorio</a:t>
            </a:r>
          </a:p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Canal de YouTube:</a:t>
            </a:r>
            <a:r>
              <a:rPr b="0" sz="3200">
                <a:solidFill>
                  <a:srgbClr val="000000"/>
                </a:solidFill>
                <a:latin typeface="Open Sans"/>
              </a:rPr>
              <a:t> videos orientativos y conferencias del curso.</a:t>
            </a:r>
          </a:p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Repositorio de GitHub:</a:t>
            </a:r>
            <a:r>
              <a:rPr b="0" sz="3200">
                <a:solidFill>
                  <a:srgbClr val="000000"/>
                </a:solidFill>
                <a:latin typeface="Open Sans"/>
              </a:rPr>
              <a:t> https://github.com/CococysLabs</a:t>
            </a:r>
          </a:p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Contiene el contenido de semestres anteriores y los ejemplos del semestre actual.</a:t>
            </a:r>
          </a:p>
          <a:p>
            <a:pPr marL="447040" indent="-447040" algn="l">
              <a:spcAft>
                <a:spcPts val="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UEDI:</a:t>
            </a:r>
            <a:r>
              <a:rPr b="0" sz="3200">
                <a:solidFill>
                  <a:srgbClr val="000000"/>
                </a:solidFill>
                <a:latin typeface="Open Sans"/>
              </a:rPr>
              <a:t> entrega de tareas, prácticas y proyectos, y foro de dudas.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75b4d7ed6_0_39"/>
          <p:cNvSpPr txBox="1"/>
          <p:nvPr/>
        </p:nvSpPr>
        <p:spPr>
          <a:xfrm>
            <a:off x="700000" y="500000"/>
            <a:ext cx="169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6. Evaluación de Conocimientos del Curso Actual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00000" y="2300000"/>
            <a:ext cx="8100000" cy="748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63220" indent="-363220" algn="l"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Diagnóstico del curso actual (20 preguntas en Quizizz):</a:t>
            </a:r>
          </a:p>
          <a:p>
            <a:pPr marL="363220" indent="-363220" algn="l">
              <a:spcAft>
                <a:spcPts val="8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Computadora: hardware, software y evolución.</a:t>
            </a:r>
          </a:p>
          <a:p>
            <a:pPr marL="363220" indent="-363220" algn="l">
              <a:spcAft>
                <a:spcPts val="8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Modelo de Von Neumann: ALU, unidad de control y buses.</a:t>
            </a:r>
          </a:p>
          <a:p>
            <a:pPr marL="363220" indent="-363220" algn="l">
              <a:spcAft>
                <a:spcPts val="8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Sistemas de numeración y codificación.</a:t>
            </a:r>
          </a:p>
          <a:p>
            <a:pPr marL="363220" indent="-363220" algn="l">
              <a:spcAft>
                <a:spcPts val="8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Algoritmo: concepto, entradas y salidas.</a:t>
            </a:r>
          </a:p>
          <a:p>
            <a:pPr marL="363220" indent="-363220" algn="l">
              <a:spcAft>
                <a:spcPts val="8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Estructuras: secuencia, condicional, ciclos y arreglos.</a:t>
            </a:r>
          </a:p>
          <a:p>
            <a:pPr marL="363220" indent="-363220" algn="l">
              <a:spcAft>
                <a:spcPts val="8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Resultado solo con fines de diagnóstico (no se califica).</a:t>
            </a:r>
          </a:p>
        </p:txBody>
      </p:sp>
      <p:graphicFrame>
        <p:nvGraphicFramePr>
          <p:cNvPr id="182" name="Table 181"/>
          <p:cNvGraphicFramePr>
            <a:graphicFrameLocks noGrp="1"/>
          </p:cNvGraphicFramePr>
          <p:nvPr/>
        </p:nvGraphicFramePr>
        <p:xfrm>
          <a:off x="9300000" y="2300000"/>
          <a:ext cx="8400000" cy="35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/>
                <a:gridCol w="4200000"/>
              </a:tblGrid>
              <a:tr h="598000">
                <a:tc>
                  <a:txBody>
                    <a:bodyPr wrap="square"/>
                    <a:lstStyle/>
                    <a:p>
                      <a:r>
                        <a:rPr b="1" sz="2610">
                          <a:solidFill>
                            <a:srgbClr val="FFFFFF"/>
                          </a:solidFill>
                          <a:latin typeface="Open Sans"/>
                        </a:rPr>
                        <a:t>Tema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610">
                          <a:solidFill>
                            <a:srgbClr val="FFFFFF"/>
                          </a:solidFill>
                          <a:latin typeface="Open Sans"/>
                        </a:rPr>
                        <a:t>Ejemplo de pregunta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5980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Arquitectura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¿Cuál afirmación sobre la ALU es FALSA? (Controla el flujo de instrucciones)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5980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Software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Ejemplo de software de sistema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5980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Numeración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¿Cuál es 1010₂ en decimal?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5980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Algoritmos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¿Qué es un algoritmo?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5980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Estructuras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¿Para qué sirve un ciclo?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75b4d7ed6_1_10"/>
          <p:cNvSpPr txBox="1"/>
          <p:nvPr/>
        </p:nvSpPr>
        <p:spPr>
          <a:xfrm>
            <a:off x="700000" y="500000"/>
            <a:ext cx="169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7. Tarea de fortalecimiento académico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00000" y="2300000"/>
            <a:ext cx="16400000" cy="748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474980" indent="-474980" algn="l">
              <a:spcAft>
                <a:spcPts val="800"/>
              </a:spcAft>
              <a:buFont typeface="Arial"/>
              <a:buChar char="•"/>
            </a:pPr>
            <a:r>
              <a:rPr b="1" sz="3400">
                <a:solidFill>
                  <a:srgbClr val="000000"/>
                </a:solidFill>
                <a:latin typeface="Open Sans"/>
              </a:rPr>
              <a:t>Tarea de fortalecimiento académico</a:t>
            </a:r>
            <a:r>
              <a:rPr b="0" sz="3400">
                <a:solidFill>
                  <a:srgbClr val="000000"/>
                </a:solidFill>
                <a:latin typeface="Open Sans"/>
              </a:rPr>
              <a:t> (se asigna hoy).</a:t>
            </a:r>
          </a:p>
          <a:p>
            <a:pPr marL="474980" indent="-474980" algn="l">
              <a:spcAft>
                <a:spcPts val="800"/>
              </a:spcAft>
              <a:buFont typeface="Arial"/>
              <a:buChar char="•"/>
            </a:pPr>
            <a:r>
              <a:rPr b="0" sz="3400">
                <a:solidFill>
                  <a:srgbClr val="000000"/>
                </a:solidFill>
                <a:latin typeface="Open Sans"/>
              </a:rPr>
              <a:t>Objetivo: reforzar el modelo de Von Neumann, el concepto de algoritmo y los lenguajes de programación.</a:t>
            </a:r>
          </a:p>
          <a:p>
            <a:pPr marL="474980" indent="-474980" algn="l">
              <a:spcAft>
                <a:spcPts val="800"/>
              </a:spcAft>
              <a:buFont typeface="Arial"/>
              <a:buChar char="•"/>
            </a:pPr>
            <a:r>
              <a:rPr b="0" sz="3400">
                <a:solidFill>
                  <a:srgbClr val="000000"/>
                </a:solidFill>
                <a:latin typeface="Open Sans"/>
              </a:rPr>
              <a:t>Investigación con fuentes confiables, redacción, síntesis y citas.</a:t>
            </a:r>
          </a:p>
          <a:p>
            <a:pPr marL="474980" indent="-474980" algn="l">
              <a:spcAft>
                <a:spcPts val="800"/>
              </a:spcAft>
              <a:buFont typeface="Arial"/>
              <a:buChar char="•"/>
            </a:pPr>
            <a:r>
              <a:rPr b="0" sz="3400">
                <a:solidFill>
                  <a:srgbClr val="000000"/>
                </a:solidFill>
                <a:latin typeface="Open Sans"/>
              </a:rPr>
              <a:t>Entrega en PDF por UEDI en el plazo indicado.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/>
          <p:nvPr/>
        </p:nvSpPr>
        <p:spPr>
          <a:xfrm>
            <a:off x="915620" y="11805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0" name="Google Shape;160;g3d75b4d7ed6_0_30"/>
          <p:cNvSpPr txBox="1"/>
          <p:nvPr/>
        </p:nvSpPr>
        <p:spPr>
          <a:xfrm>
            <a:off x="700000" y="500000"/>
            <a:ext cx="169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5. Programa del Curso – Competencias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00000" y="2200000"/>
            <a:ext cx="16400000" cy="7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63220" indent="-363220" algn="l"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1.</a:t>
            </a:r>
            <a:r>
              <a:rPr b="0" sz="2600">
                <a:solidFill>
                  <a:srgbClr val="000000"/>
                </a:solidFill>
                <a:latin typeface="Open Sans"/>
              </a:rPr>
              <a:t> Analiza problemas y formula soluciones algorítmicas (pensamiento computacional, pseudocódigo y diagramas).</a:t>
            </a:r>
          </a:p>
          <a:p>
            <a:pPr marL="363220" indent="-363220" algn="l"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2.</a:t>
            </a:r>
            <a:r>
              <a:rPr b="0" sz="2600">
                <a:solidFill>
                  <a:srgbClr val="000000"/>
                </a:solidFill>
                <a:latin typeface="Open Sans"/>
              </a:rPr>
              <a:t> Crea algoritmos secuenciales, condicionales y repetitivos.</a:t>
            </a:r>
          </a:p>
          <a:p>
            <a:pPr marL="363220" indent="-363220" algn="l"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3.</a:t>
            </a:r>
            <a:r>
              <a:rPr b="0" sz="2600">
                <a:solidFill>
                  <a:srgbClr val="000000"/>
                </a:solidFill>
                <a:latin typeface="Open Sans"/>
              </a:rPr>
              <a:t> Implementa algoritmos con cadenas, arreglos y matrices.</a:t>
            </a:r>
          </a:p>
          <a:p>
            <a:pPr marL="363220" indent="-363220" algn="l"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4.</a:t>
            </a:r>
            <a:r>
              <a:rPr b="0" sz="2600">
                <a:solidFill>
                  <a:srgbClr val="000000"/>
                </a:solidFill>
                <a:latin typeface="Open Sans"/>
              </a:rPr>
              <a:t> Prueba la corrección de algoritmos (pruebas de escritorio y casos de prueba).</a:t>
            </a:r>
          </a:p>
          <a:p>
            <a:pPr marL="363220" indent="-363220" algn="l"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5.</a:t>
            </a:r>
            <a:r>
              <a:rPr b="0" sz="2600">
                <a:solidFill>
                  <a:srgbClr val="000000"/>
                </a:solidFill>
                <a:latin typeface="Open Sans"/>
              </a:rPr>
              <a:t> Identifica componentes de un sistema computacional (Von Neumann).</a:t>
            </a:r>
          </a:p>
          <a:p>
            <a:pPr marL="363220" indent="-363220" algn="l"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6.</a:t>
            </a:r>
            <a:r>
              <a:rPr b="0" sz="2600">
                <a:solidFill>
                  <a:srgbClr val="000000"/>
                </a:solidFill>
                <a:latin typeface="Open Sans"/>
              </a:rPr>
              <a:t> Convierte entre sistemas decimal, binario, octal y hexadecimal.</a:t>
            </a:r>
          </a:p>
          <a:p>
            <a:pPr marL="363220" indent="-363220" algn="l"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7.</a:t>
            </a:r>
            <a:r>
              <a:rPr b="0" sz="2600">
                <a:solidFill>
                  <a:srgbClr val="000000"/>
                </a:solidFill>
                <a:latin typeface="Open Sans"/>
              </a:rPr>
              <a:t> Descompone problemas en subproblemas.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0" name="Google Shape;160;g3d75b4d7ed6_0_30"/>
          <p:cNvSpPr txBox="1"/>
          <p:nvPr/>
        </p:nvSpPr>
        <p:spPr>
          <a:xfrm>
            <a:off x="700000" y="500000"/>
            <a:ext cx="169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5. Programa del Curso – Contenido por semana</a:t>
            </a:r>
          </a:p>
        </p:txBody>
      </p:sp>
      <p:graphicFrame>
        <p:nvGraphicFramePr>
          <p:cNvPr id="161" name="Table 160"/>
          <p:cNvGraphicFramePr>
            <a:graphicFrameLocks noGrp="1"/>
          </p:cNvGraphicFramePr>
          <p:nvPr/>
        </p:nvGraphicFramePr>
        <p:xfrm>
          <a:off x="900000" y="2200000"/>
          <a:ext cx="16400000" cy="80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14400000"/>
              </a:tblGrid>
              <a:tr h="736000">
                <a:tc>
                  <a:txBody>
                    <a:bodyPr wrap="square"/>
                    <a:lstStyle/>
                    <a:p>
                      <a:r>
                        <a:rPr b="1" sz="2465">
                          <a:solidFill>
                            <a:srgbClr val="FFFFFF"/>
                          </a:solidFill>
                          <a:latin typeface="Open Sans"/>
                        </a:rPr>
                        <a:t>Semana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465">
                          <a:solidFill>
                            <a:srgbClr val="FFFFFF"/>
                          </a:solidFill>
                          <a:latin typeface="Open Sans"/>
                        </a:rPr>
                        <a:t>Tema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2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La computadora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3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Modelo de Von Neumann y software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4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Sistemas de numeración y codificación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5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Pensamiento computacional (cuestionario 3 pts)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6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Elementos de un algoritmo (2 pts)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7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Secuencial, condicional y repetitivo (2 pts)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8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Cadenas y arreglos unidimensionales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9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Matrices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10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Pseudocódigo, diagramas y pruebas (3 pts)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11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Git y GitHub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0" name="Google Shape;160;g3d75b4d7ed6_0_30"/>
          <p:cNvSpPr txBox="1"/>
          <p:nvPr/>
        </p:nvSpPr>
        <p:spPr>
          <a:xfrm>
            <a:off x="700000" y="500000"/>
            <a:ext cx="169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5. Programa del Curso – Evaluación</a:t>
            </a:r>
          </a:p>
        </p:txBody>
      </p:sp>
      <p:graphicFrame>
        <p:nvGraphicFramePr>
          <p:cNvPr id="161" name="Table 160"/>
          <p:cNvGraphicFramePr>
            <a:graphicFrameLocks noGrp="1"/>
          </p:cNvGraphicFramePr>
          <p:nvPr/>
        </p:nvGraphicFramePr>
        <p:xfrm>
          <a:off x="900000" y="2200000"/>
          <a:ext cx="16400000" cy="436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0"/>
                <a:gridCol w="2200000"/>
                <a:gridCol w="9000000"/>
              </a:tblGrid>
              <a:tr h="873999"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FFFFFF"/>
                          </a:solidFill>
                          <a:latin typeface="Open Sans"/>
                        </a:rPr>
                        <a:t>Actividad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FFFFFF"/>
                          </a:solidFill>
                          <a:latin typeface="Open Sans"/>
                        </a:rPr>
                        <a:t>Punteo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FFFFFF"/>
                          </a:solidFill>
                          <a:latin typeface="Open Sans"/>
                        </a:rPr>
                        <a:t>Detalle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873999"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Actividades en clase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10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Semanas 5, 6, 7 y 10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873999"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Tareas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10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5 tareas de 2 pts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873999"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Prácticas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20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Práctica 1 (5 pts) y Práctica 2 (15 pts)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873999"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Proyectos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60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Proyecto 1 (25 pts) y Proyecto 2 (35 pts)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